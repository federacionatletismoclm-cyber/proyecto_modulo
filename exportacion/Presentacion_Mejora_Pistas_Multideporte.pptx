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Presentamos el proyecto de mejora de las pistas multideporte del Polideportivo Juan Carlos I: qué problema resuelve, por qué es necesario y cómo será el nuevo módulo.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Empezamos por la realidad: tenemos un espacio cubierto muy grande, pero que no rinde todo lo que podría. El pavimento está desgastado y la nave está abierta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motivos claros. Uno, el pavimento sufre. Dos, la nave no protege ni del tiempo ni de las aves. Tres, no hay un espacio cubierto específico para el atletismo ni una forma ordenada de repartir los usos.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se ve el salto: a la izquierda, cómo está hoy; a la derecha, una recreación en 3D del módulo ya renovado, con pistas multideporte y atletismo bajo la misma cubierta.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es sencilla de explicar: aprovechar el mismo espacio para tres cosas. Dos pistas multideporte, un módulo de atletismo cubierto y una nave renovada que lo protege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organiza el módulo visto desde arriba: arriba, las ocho calles de atletismo; en el centro, las zonas de salto; y abajo, las dos pistas multideporte, separadas entre sí por cortinas.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corazón del proyecto: un módulo de atletismo cubierto, con ocho calles de noventa metros, zona de frenada incluida, y zonas de salto. Se entrega homologado por la Real Federación Española de Atletismo. Permite entrenar y tecnificar todo el año, llueva o haga frío.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pistas multideporte admiten fútbol sala, baloncesto, voleibol y tenis. Y gracias a las cortinas motorizadas, se pueden usar a la vez que el atletismo sin interferirse.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zona lleva su propia superficie. En atletismo, un tartán sintético poroso, aplicado in situ y homologado por la RFEA. En las pistas multideporte, un pavimento de PVC o resinas, como el de los pabellones cubiertos. Como las superficies son independientes, la obra puede hacerse por fases y adaptar el orden. El proyecto estima unos seis meses en total.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nave también se renueva: nueva cubierta aislante, un cerramiento que deja pasar la luz, y un entorno exterior más cómodo y accesible. El resultado es un espacio protegido de la lluvia, el frío, el viento y las aves.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beneficiarios son muy distintos: clubes y escuelas, atletas que quieren tecnificarse, organizadores de competiciones y cualquier vecino que quiera hacer deporte.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la idea central: un espacio cubierto que permite practicar atletismo y deporte todo el año.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4000"/>
                </a:srgbClr>
              </a:gs>
              <a:gs pos="42000">
                <a:srgbClr val="10243A">
                  <a:alpha val="78000"/>
                </a:srgbClr>
              </a:gs>
              <a:gs pos="100000">
                <a:srgbClr val="10243A">
                  <a:alpha val="5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12800" y="5080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ayto.png"/>
          <p:cNvPicPr>
            <a:picLocks noChangeAspect="1"/>
          </p:cNvPicPr>
          <p:nvPr/>
        </p:nvPicPr>
        <p:blipFill>
          <a:blip r:embed="rId4"/>
          <a:stretch>
            <a:fillRect/>
          </a:stretch>
        </p:blipFill>
        <p:spPr>
          <a:xfrm>
            <a:off x="1016000" y="636411"/>
            <a:ext cx="1270000" cy="797277"/>
          </a:xfrm>
          <a:prstGeom prst="rect">
            <a:avLst/>
          </a:prstGeom>
        </p:spPr>
      </p:pic>
      <p:pic>
        <p:nvPicPr>
          <p:cNvPr id="6" name="Picture 5" descr="logo_deporte.png"/>
          <p:cNvPicPr>
            <a:picLocks noChangeAspect="1"/>
          </p:cNvPicPr>
          <p:nvPr/>
        </p:nvPicPr>
        <p:blipFill>
          <a:blip r:embed="rId5"/>
          <a:stretch>
            <a:fillRect/>
          </a:stretch>
        </p:blipFill>
        <p:spPr>
          <a:xfrm>
            <a:off x="2540000" y="833543"/>
            <a:ext cx="1778000" cy="403013"/>
          </a:xfrm>
          <a:prstGeom prst="rect">
            <a:avLst/>
          </a:prstGeom>
        </p:spPr>
      </p:pic>
      <p:sp>
        <p:nvSpPr>
          <p:cNvPr id="7" name="TextBox 6"/>
          <p:cNvSpPr txBox="1"/>
          <p:nvPr/>
        </p:nvSpPr>
        <p:spPr>
          <a:xfrm>
            <a:off x="812800" y="2959100"/>
            <a:ext cx="6985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POLIDEPORTIVO JUAN CARLOS I · CIUDAD REAL</a:t>
            </a:r>
          </a:p>
        </p:txBody>
      </p:sp>
      <p:sp>
        <p:nvSpPr>
          <p:cNvPr id="8" name="TextBox 7"/>
          <p:cNvSpPr txBox="1"/>
          <p:nvPr/>
        </p:nvSpPr>
        <p:spPr>
          <a:xfrm>
            <a:off x="812800" y="3302000"/>
            <a:ext cx="7302500" cy="2032000"/>
          </a:xfrm>
          <a:prstGeom prst="rect">
            <a:avLst/>
          </a:prstGeom>
          <a:noFill/>
        </p:spPr>
        <p:txBody>
          <a:bodyPr wrap="square" lIns="0" rIns="0" tIns="0" bIns="0" anchor="t">
            <a:spAutoFit/>
          </a:bodyPr>
          <a:lstStyle/>
          <a:p>
            <a:pPr algn="l">
              <a:lnSpc>
                <a:spcPct val="92000"/>
              </a:lnSpc>
            </a:pPr>
            <a:r>
              <a:rPr sz="6800" b="1">
                <a:solidFill>
                  <a:srgbClr val="F7F5F0"/>
                </a:solidFill>
                <a:latin typeface="Arial Narrow"/>
              </a:rPr>
              <a:t>MEJORA DE PISTAS MULTIDEPORTE</a:t>
            </a:r>
          </a:p>
        </p:txBody>
      </p:sp>
      <p:sp>
        <p:nvSpPr>
          <p:cNvPr id="9" name="TextBox 8"/>
          <p:cNvSpPr txBox="1"/>
          <p:nvPr/>
        </p:nvSpPr>
        <p:spPr>
          <a:xfrm>
            <a:off x="812800" y="5511800"/>
            <a:ext cx="6096000" cy="698500"/>
          </a:xfrm>
          <a:prstGeom prst="rect">
            <a:avLst/>
          </a:prstGeom>
          <a:noFill/>
        </p:spPr>
        <p:txBody>
          <a:bodyPr wrap="square" lIns="0" rIns="0" tIns="0" bIns="0" anchor="t">
            <a:spAutoFit/>
          </a:bodyPr>
          <a:lstStyle/>
          <a:p>
            <a:pPr algn="l">
              <a:lnSpc>
                <a:spcPct val="100000"/>
              </a:lnSpc>
            </a:pPr>
            <a:r>
              <a:rPr sz="2100" b="0">
                <a:solidFill>
                  <a:srgbClr val="E3EAF2"/>
                </a:solidFill>
                <a:latin typeface="Calibri"/>
              </a:rPr>
              <a:t>Un espacio cubierto para entrenar, competir y crecer todo el año.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antes.jpg"/>
          <p:cNvPicPr>
            <a:picLocks noChangeAspect="1"/>
          </p:cNvPicPr>
          <p:nvPr/>
        </p:nvPicPr>
        <p:blipFill>
          <a:blip r:embed="rId3"/>
          <a:srcRect l="4003" r="4003"/>
          <a:stretch>
            <a:fillRect/>
          </a:stretch>
        </p:blipFill>
        <p:spPr>
          <a:xfrm>
            <a:off x="812800" y="1295400"/>
            <a:ext cx="5588000" cy="4064000"/>
          </a:xfrm>
          <a:prstGeom prst="rect">
            <a:avLst/>
          </a:prstGeom>
        </p:spPr>
      </p:pic>
      <p:sp>
        <p:nvSpPr>
          <p:cNvPr id="3" name="TextBox 2"/>
          <p:cNvSpPr txBox="1"/>
          <p:nvPr/>
        </p:nvSpPr>
        <p:spPr>
          <a:xfrm>
            <a:off x="6908800" y="1498600"/>
            <a:ext cx="44704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PUNTO DE PARTIDA</a:t>
            </a:r>
          </a:p>
        </p:txBody>
      </p:sp>
      <p:sp>
        <p:nvSpPr>
          <p:cNvPr id="4" name="TextBox 3"/>
          <p:cNvSpPr txBox="1"/>
          <p:nvPr/>
        </p:nvSpPr>
        <p:spPr>
          <a:xfrm>
            <a:off x="6908800" y="1841500"/>
            <a:ext cx="4470400" cy="2413000"/>
          </a:xfrm>
          <a:prstGeom prst="rect">
            <a:avLst/>
          </a:prstGeom>
          <a:noFill/>
        </p:spPr>
        <p:txBody>
          <a:bodyPr wrap="square" lIns="0" rIns="0" tIns="0" bIns="0" anchor="t">
            <a:spAutoFit/>
          </a:bodyPr>
          <a:lstStyle/>
          <a:p>
            <a:pPr algn="l">
              <a:lnSpc>
                <a:spcPct val="95000"/>
              </a:lnSpc>
            </a:pPr>
            <a:r>
              <a:rPr sz="4200" b="1">
                <a:solidFill>
                  <a:srgbClr val="10243A"/>
                </a:solidFill>
                <a:latin typeface="Arial Narrow"/>
              </a:rPr>
              <a:t>UNA GRAN PISTA CUBIERTA QUE PEDÍA RENOVARSE</a:t>
            </a:r>
          </a:p>
        </p:txBody>
      </p:sp>
      <p:sp>
        <p:nvSpPr>
          <p:cNvPr id="5" name="TextBox 4"/>
          <p:cNvSpPr txBox="1"/>
          <p:nvPr/>
        </p:nvSpPr>
        <p:spPr>
          <a:xfrm>
            <a:off x="6908800" y="4381500"/>
            <a:ext cx="4470400" cy="1651000"/>
          </a:xfrm>
          <a:prstGeom prst="rect">
            <a:avLst/>
          </a:prstGeom>
          <a:noFill/>
        </p:spPr>
        <p:txBody>
          <a:bodyPr wrap="square" lIns="0" rIns="0" tIns="0" bIns="0" anchor="t">
            <a:spAutoFit/>
          </a:bodyPr>
          <a:lstStyle/>
          <a:p>
            <a:pPr algn="l">
              <a:lnSpc>
                <a:spcPct val="105000"/>
              </a:lnSpc>
            </a:pPr>
            <a:r>
              <a:rPr sz="1800" b="0">
                <a:solidFill>
                  <a:srgbClr val="3E4C5E"/>
                </a:solidFill>
                <a:latin typeface="Calibri"/>
              </a:rPr>
              <a:t>El Polideportivo Juan Carlos I cuenta con un amplio espacio cubierto. Hoy tiene el pavimento desgastado, una nave abierta a la lluvia, al viento y a las aves, y una sola pista para todos los deportes.</a:t>
            </a:r>
          </a:p>
        </p:txBody>
      </p:sp>
      <p:sp>
        <p:nvSpPr>
          <p:cNvPr id="6" name="TextBox 5"/>
          <p:cNvSpPr txBox="1"/>
          <p:nvPr/>
        </p:nvSpPr>
        <p:spPr>
          <a:xfrm>
            <a:off x="812800" y="6223000"/>
            <a:ext cx="7620000" cy="190500"/>
          </a:xfrm>
          <a:prstGeom prst="rect">
            <a:avLst/>
          </a:prstGeom>
          <a:noFill/>
        </p:spPr>
        <p:txBody>
          <a:bodyPr wrap="square" lIns="0" rIns="0" tIns="0" bIns="0" anchor="t">
            <a:spAutoFit/>
          </a:bodyPr>
          <a:lstStyle/>
          <a:p>
            <a:pPr algn="l">
              <a:lnSpc>
                <a:spcPct val="100000"/>
              </a:lnSpc>
            </a:pPr>
            <a:r>
              <a:rPr sz="1200" b="0">
                <a:solidFill>
                  <a:srgbClr val="6B7888"/>
                </a:solidFill>
                <a:latin typeface="Calibri"/>
              </a:rPr>
              <a:t>Estado actual de la pista · Polideportivo Juan Carlos 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POR QUÉ ES NECESARIO</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F7F5F0"/>
                </a:solidFill>
                <a:latin typeface="Arial Narrow"/>
              </a:rPr>
              <a:t>TRES RAZONES PARA ACTUAR</a:t>
            </a:r>
          </a:p>
        </p:txBody>
      </p:sp>
      <p:sp>
        <p:nvSpPr>
          <p:cNvPr id="4" name="Rounded Rectangle 3"/>
          <p:cNvSpPr/>
          <p:nvPr/>
        </p:nvSpPr>
        <p:spPr>
          <a:xfrm>
            <a:off x="8128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52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176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76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1</a:t>
            </a:r>
          </a:p>
        </p:txBody>
      </p:sp>
      <p:sp>
        <p:nvSpPr>
          <p:cNvPr id="8" name="TextBox 7"/>
          <p:cNvSpPr txBox="1"/>
          <p:nvPr/>
        </p:nvSpPr>
        <p:spPr>
          <a:xfrm>
            <a:off x="11176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PAVIMENTO DETERIORADO</a:t>
            </a:r>
          </a:p>
        </p:txBody>
      </p:sp>
      <p:sp>
        <p:nvSpPr>
          <p:cNvPr id="9" name="TextBox 8"/>
          <p:cNvSpPr txBox="1"/>
          <p:nvPr/>
        </p:nvSpPr>
        <p:spPr>
          <a:xfrm>
            <a:off x="11176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El uso continuado y las aves que anidan dentro dañan la superficie de juego.</a:t>
            </a:r>
          </a:p>
        </p:txBody>
      </p:sp>
      <p:sp>
        <p:nvSpPr>
          <p:cNvPr id="10" name="Rounded Rectangle 9"/>
          <p:cNvSpPr/>
          <p:nvPr/>
        </p:nvSpPr>
        <p:spPr>
          <a:xfrm>
            <a:off x="44196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244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44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2</a:t>
            </a:r>
          </a:p>
        </p:txBody>
      </p:sp>
      <p:sp>
        <p:nvSpPr>
          <p:cNvPr id="14" name="TextBox 13"/>
          <p:cNvSpPr txBox="1"/>
          <p:nvPr/>
        </p:nvSpPr>
        <p:spPr>
          <a:xfrm>
            <a:off x="47244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UNA NAVE A LA INTEMPERIE</a:t>
            </a:r>
          </a:p>
        </p:txBody>
      </p:sp>
      <p:sp>
        <p:nvSpPr>
          <p:cNvPr id="15" name="TextBox 14"/>
          <p:cNvSpPr txBox="1"/>
          <p:nvPr/>
        </p:nvSpPr>
        <p:spPr>
          <a:xfrm>
            <a:off x="47244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Lluvia, frío, viento y suciedad entran con facilidad y limitan el uso del espacio.</a:t>
            </a:r>
          </a:p>
        </p:txBody>
      </p:sp>
      <p:sp>
        <p:nvSpPr>
          <p:cNvPr id="16" name="Rounded Rectangle 15"/>
          <p:cNvSpPr/>
          <p:nvPr/>
        </p:nvSpPr>
        <p:spPr>
          <a:xfrm>
            <a:off x="80264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788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312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12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3</a:t>
            </a:r>
          </a:p>
        </p:txBody>
      </p:sp>
      <p:sp>
        <p:nvSpPr>
          <p:cNvPr id="20" name="TextBox 19"/>
          <p:cNvSpPr txBox="1"/>
          <p:nvPr/>
        </p:nvSpPr>
        <p:spPr>
          <a:xfrm>
            <a:off x="83312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 ESPACIO PARA TODO</a:t>
            </a:r>
          </a:p>
        </p:txBody>
      </p:sp>
      <p:sp>
        <p:nvSpPr>
          <p:cNvPr id="21" name="TextBox 20"/>
          <p:cNvSpPr txBox="1"/>
          <p:nvPr/>
        </p:nvSpPr>
        <p:spPr>
          <a:xfrm>
            <a:off x="83312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No hay un lugar cubierto para el atletismo, ni se pueden separar los usos de forma ordenada.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609600"/>
            <a:ext cx="10566400" cy="1206500"/>
          </a:xfrm>
          <a:prstGeom prst="rect">
            <a:avLst/>
          </a:prstGeom>
          <a:noFill/>
        </p:spPr>
        <p:txBody>
          <a:bodyPr wrap="square" lIns="0" rIns="0" tIns="0" bIns="0" anchor="t">
            <a:spAutoFit/>
          </a:bodyPr>
          <a:lstStyle/>
          <a:p>
            <a:pPr algn="l">
              <a:lnSpc>
                <a:spcPct val="95000"/>
              </a:lnSpc>
            </a:pPr>
            <a:r>
              <a:rPr sz="4000" b="1">
                <a:solidFill>
                  <a:srgbClr val="10243A"/>
                </a:solidFill>
                <a:latin typeface="Arial Narrow"/>
              </a:rPr>
              <a:t>DE UN ESPACIO ABIERTO A UN MÓDULO DEPORTIVO COMPLETO</a:t>
            </a:r>
          </a:p>
        </p:txBody>
      </p:sp>
      <p:pic>
        <p:nvPicPr>
          <p:cNvPr id="3" name="Picture 2" descr="antes.jpg"/>
          <p:cNvPicPr>
            <a:picLocks noChangeAspect="1"/>
          </p:cNvPicPr>
          <p:nvPr/>
        </p:nvPicPr>
        <p:blipFill>
          <a:blip r:embed="rId3"/>
          <a:srcRect t="2141" b="2141"/>
          <a:stretch>
            <a:fillRect/>
          </a:stretch>
        </p:blipFill>
        <p:spPr>
          <a:xfrm>
            <a:off x="812800" y="2095500"/>
            <a:ext cx="5156200" cy="3302000"/>
          </a:xfrm>
          <a:prstGeom prst="rect">
            <a:avLst/>
          </a:prstGeom>
        </p:spPr>
      </p:pic>
      <p:pic>
        <p:nvPicPr>
          <p:cNvPr id="4" name="Picture 3" descr="r_int.jpg"/>
          <p:cNvPicPr>
            <a:picLocks noChangeAspect="1"/>
          </p:cNvPicPr>
          <p:nvPr/>
        </p:nvPicPr>
        <p:blipFill>
          <a:blip r:embed="rId4"/>
          <a:srcRect l="7838" r="7838"/>
          <a:stretch>
            <a:fillRect/>
          </a:stretch>
        </p:blipFill>
        <p:spPr>
          <a:xfrm>
            <a:off x="6223000" y="2095500"/>
            <a:ext cx="5156200" cy="3302000"/>
          </a:xfrm>
          <a:prstGeom prst="rect">
            <a:avLst/>
          </a:prstGeom>
        </p:spPr>
      </p:pic>
      <p:sp>
        <p:nvSpPr>
          <p:cNvPr id="5" name="TextBox 4"/>
          <p:cNvSpPr txBox="1"/>
          <p:nvPr/>
        </p:nvSpPr>
        <p:spPr>
          <a:xfrm>
            <a:off x="812800" y="5562600"/>
            <a:ext cx="5156200" cy="254000"/>
          </a:xfrm>
          <a:prstGeom prst="rect">
            <a:avLst/>
          </a:prstGeom>
          <a:noFill/>
        </p:spPr>
        <p:txBody>
          <a:bodyPr wrap="square" lIns="0" rIns="0" tIns="0" bIns="0" anchor="t">
            <a:spAutoFit/>
          </a:bodyPr>
          <a:lstStyle/>
          <a:p>
            <a:pPr algn="l">
              <a:lnSpc>
                <a:spcPct val="100000"/>
              </a:lnSpc>
            </a:pPr>
            <a:r>
              <a:rPr sz="1500" b="1" spc="150">
                <a:solidFill>
                  <a:srgbClr val="3E4C5E"/>
                </a:solidFill>
                <a:latin typeface="Calibri"/>
              </a:rPr>
              <a:t>HOY</a:t>
            </a:r>
          </a:p>
        </p:txBody>
      </p:sp>
      <p:sp>
        <p:nvSpPr>
          <p:cNvPr id="6" name="TextBox 5"/>
          <p:cNvSpPr txBox="1"/>
          <p:nvPr/>
        </p:nvSpPr>
        <p:spPr>
          <a:xfrm>
            <a:off x="6223000" y="5562600"/>
            <a:ext cx="5156200" cy="254000"/>
          </a:xfrm>
          <a:prstGeom prst="rect">
            <a:avLst/>
          </a:prstGeom>
          <a:noFill/>
        </p:spPr>
        <p:txBody>
          <a:bodyPr wrap="square" lIns="0" rIns="0" tIns="0" bIns="0" anchor="t">
            <a:spAutoFit/>
          </a:bodyPr>
          <a:lstStyle/>
          <a:p>
            <a:pPr algn="l">
              <a:lnSpc>
                <a:spcPct val="100000"/>
              </a:lnSpc>
            </a:pPr>
            <a:r>
              <a:rPr sz="1500" b="1" spc="150">
                <a:solidFill>
                  <a:srgbClr val="B95A0C"/>
                </a:solidFill>
                <a:latin typeface="Calibri"/>
              </a:rPr>
              <a:t>EL MÓDULO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749300"/>
            <a:ext cx="508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LA RESPUESTA</a:t>
            </a:r>
          </a:p>
        </p:txBody>
      </p:sp>
      <p:sp>
        <p:nvSpPr>
          <p:cNvPr id="3" name="TextBox 2"/>
          <p:cNvSpPr txBox="1"/>
          <p:nvPr/>
        </p:nvSpPr>
        <p:spPr>
          <a:xfrm>
            <a:off x="812800" y="1079500"/>
            <a:ext cx="5080000" cy="3302000"/>
          </a:xfrm>
          <a:prstGeom prst="rect">
            <a:avLst/>
          </a:prstGeom>
          <a:noFill/>
        </p:spPr>
        <p:txBody>
          <a:bodyPr wrap="square" lIns="0" rIns="0" tIns="0" bIns="0" anchor="t">
            <a:spAutoFit/>
          </a:bodyPr>
          <a:lstStyle/>
          <a:p>
            <a:pPr algn="l">
              <a:lnSpc>
                <a:spcPct val="95000"/>
              </a:lnSpc>
            </a:pPr>
            <a:r>
              <a:rPr sz="4400" b="1">
                <a:solidFill>
                  <a:srgbClr val="F7F5F0"/>
                </a:solidFill>
                <a:latin typeface="Arial Narrow"/>
              </a:rPr>
              <a:t>DOS PISTAS Y UN MÓDULO DE ATLETISMO, BAJO UNA MISMA CUBIERTA</a:t>
            </a:r>
          </a:p>
        </p:txBody>
      </p:sp>
      <p:sp>
        <p:nvSpPr>
          <p:cNvPr id="4" name="Rounded Rectangle 3"/>
          <p:cNvSpPr/>
          <p:nvPr/>
        </p:nvSpPr>
        <p:spPr>
          <a:xfrm>
            <a:off x="812800" y="4572000"/>
            <a:ext cx="2667000" cy="419100"/>
          </a:xfrm>
          <a:prstGeom prst="roundRect">
            <a:avLst>
              <a:gd name="adj" fmla="val 18181"/>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4572000"/>
            <a:ext cx="2667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2 pistas multideporte</a:t>
            </a:r>
          </a:p>
        </p:txBody>
      </p:sp>
      <p:sp>
        <p:nvSpPr>
          <p:cNvPr id="6" name="Rounded Rectangle 5"/>
          <p:cNvSpPr/>
          <p:nvPr/>
        </p:nvSpPr>
        <p:spPr>
          <a:xfrm>
            <a:off x="812800" y="5092700"/>
            <a:ext cx="3556000" cy="419100"/>
          </a:xfrm>
          <a:prstGeom prst="roundRect">
            <a:avLst>
              <a:gd name="adj" fmla="val 18181"/>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5092700"/>
            <a:ext cx="3556000" cy="419100"/>
          </a:xfrm>
          <a:prstGeom prst="rect">
            <a:avLst/>
          </a:prstGeom>
          <a:noFill/>
        </p:spPr>
        <p:txBody>
          <a:bodyPr wrap="square" lIns="0" rIns="0" tIns="0" bIns="0" anchor="ctr">
            <a:spAutoFit/>
          </a:bodyPr>
          <a:lstStyle/>
          <a:p>
            <a:pPr algn="ctr">
              <a:lnSpc>
                <a:spcPct val="100000"/>
              </a:lnSpc>
            </a:pPr>
            <a:r>
              <a:rPr sz="1700" b="1">
                <a:solidFill>
                  <a:srgbClr val="F7F5F0"/>
                </a:solidFill>
                <a:latin typeface="Calibri"/>
              </a:rPr>
              <a:t>1 módulo de atletismo cubierto</a:t>
            </a:r>
          </a:p>
        </p:txBody>
      </p:sp>
      <p:sp>
        <p:nvSpPr>
          <p:cNvPr id="8" name="Rounded Rectangle 7"/>
          <p:cNvSpPr/>
          <p:nvPr/>
        </p:nvSpPr>
        <p:spPr>
          <a:xfrm>
            <a:off x="812800" y="5613400"/>
            <a:ext cx="3302000" cy="419100"/>
          </a:xfrm>
          <a:prstGeom prst="roundRect">
            <a:avLst>
              <a:gd name="adj" fmla="val 18181"/>
            </a:avLst>
          </a:prstGeom>
          <a:solidFill>
            <a:srgbClr val="7EC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5613400"/>
            <a:ext cx="3302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1 nave renovada y protegida</a:t>
            </a:r>
          </a:p>
        </p:txBody>
      </p:sp>
      <p:pic>
        <p:nvPicPr>
          <p:cNvPr id="10" name="Picture 9" descr="r_atl2.jpg"/>
          <p:cNvPicPr>
            <a:picLocks noChangeAspect="1"/>
          </p:cNvPicPr>
          <p:nvPr/>
        </p:nvPicPr>
        <p:blipFill>
          <a:blip r:embed="rId3"/>
          <a:srcRect l="18371" r="18371"/>
          <a:stretch>
            <a:fillRect/>
          </a:stretch>
        </p:blipFill>
        <p:spPr>
          <a:xfrm>
            <a:off x="6350000" y="1206500"/>
            <a:ext cx="5207000" cy="4445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r_planta.jpg"/>
          <p:cNvPicPr>
            <a:picLocks noChangeAspect="1"/>
          </p:cNvPicPr>
          <p:nvPr/>
        </p:nvPicPr>
        <p:blipFill>
          <a:blip r:embed="rId3"/>
          <a:srcRect l="42" r="42"/>
          <a:stretch>
            <a:fillRect/>
          </a:stretch>
        </p:blipFill>
        <p:spPr>
          <a:xfrm>
            <a:off x="1524000" y="1714500"/>
            <a:ext cx="9144000" cy="4572000"/>
          </a:xfrm>
          <a:prstGeom prst="rect">
            <a:avLst/>
          </a:prstGeom>
        </p:spPr>
      </p:pic>
      <p:sp>
        <p:nvSpPr>
          <p:cNvPr id="3" name="TextBox 2"/>
          <p:cNvSpPr txBox="1"/>
          <p:nvPr/>
        </p:nvSpPr>
        <p:spPr>
          <a:xfrm>
            <a:off x="812800" y="5080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TODO EN UN VISTAZO</a:t>
            </a:r>
          </a:p>
        </p:txBody>
      </p:sp>
      <p:sp>
        <p:nvSpPr>
          <p:cNvPr id="4" name="Oval 3"/>
          <p:cNvSpPr/>
          <p:nvPr/>
        </p:nvSpPr>
        <p:spPr>
          <a:xfrm>
            <a:off x="8128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1</a:t>
            </a:r>
          </a:p>
        </p:txBody>
      </p:sp>
      <p:sp>
        <p:nvSpPr>
          <p:cNvPr id="6" name="TextBox 5"/>
          <p:cNvSpPr txBox="1"/>
          <p:nvPr/>
        </p:nvSpPr>
        <p:spPr>
          <a:xfrm>
            <a:off x="11938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Atletismo · 8 calles</a:t>
            </a:r>
          </a:p>
        </p:txBody>
      </p:sp>
      <p:sp>
        <p:nvSpPr>
          <p:cNvPr id="7" name="Oval 6"/>
          <p:cNvSpPr/>
          <p:nvPr/>
        </p:nvSpPr>
        <p:spPr>
          <a:xfrm>
            <a:off x="38100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00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2</a:t>
            </a:r>
          </a:p>
        </p:txBody>
      </p:sp>
      <p:sp>
        <p:nvSpPr>
          <p:cNvPr id="9" name="TextBox 8"/>
          <p:cNvSpPr txBox="1"/>
          <p:nvPr/>
        </p:nvSpPr>
        <p:spPr>
          <a:xfrm>
            <a:off x="4191000" y="1244600"/>
            <a:ext cx="1905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Zonas de salto</a:t>
            </a:r>
          </a:p>
        </p:txBody>
      </p:sp>
      <p:sp>
        <p:nvSpPr>
          <p:cNvPr id="10" name="Oval 9"/>
          <p:cNvSpPr/>
          <p:nvPr/>
        </p:nvSpPr>
        <p:spPr>
          <a:xfrm>
            <a:off x="62992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92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3</a:t>
            </a:r>
          </a:p>
        </p:txBody>
      </p:sp>
      <p:sp>
        <p:nvSpPr>
          <p:cNvPr id="12" name="TextBox 11"/>
          <p:cNvSpPr txBox="1"/>
          <p:nvPr/>
        </p:nvSpPr>
        <p:spPr>
          <a:xfrm>
            <a:off x="66802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1</a:t>
            </a:r>
          </a:p>
        </p:txBody>
      </p:sp>
      <p:sp>
        <p:nvSpPr>
          <p:cNvPr id="13" name="Oval 12"/>
          <p:cNvSpPr/>
          <p:nvPr/>
        </p:nvSpPr>
        <p:spPr>
          <a:xfrm>
            <a:off x="92964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64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4</a:t>
            </a:r>
          </a:p>
        </p:txBody>
      </p:sp>
      <p:sp>
        <p:nvSpPr>
          <p:cNvPr id="15" name="TextBox 14"/>
          <p:cNvSpPr txBox="1"/>
          <p:nvPr/>
        </p:nvSpPr>
        <p:spPr>
          <a:xfrm>
            <a:off x="96774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2</a:t>
            </a:r>
          </a:p>
        </p:txBody>
      </p:sp>
      <p:sp>
        <p:nvSpPr>
          <p:cNvPr id="16" name="Oval 15"/>
          <p:cNvSpPr/>
          <p:nvPr/>
        </p:nvSpPr>
        <p:spPr>
          <a:xfrm>
            <a:off x="6946900" y="27432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6900" y="27432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1</a:t>
            </a:r>
          </a:p>
        </p:txBody>
      </p:sp>
      <p:sp>
        <p:nvSpPr>
          <p:cNvPr id="18" name="Oval 17"/>
          <p:cNvSpPr/>
          <p:nvPr/>
        </p:nvSpPr>
        <p:spPr>
          <a:xfrm>
            <a:off x="6350000" y="34290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0" y="34290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2</a:t>
            </a:r>
          </a:p>
        </p:txBody>
      </p:sp>
      <p:sp>
        <p:nvSpPr>
          <p:cNvPr id="20" name="Oval 19"/>
          <p:cNvSpPr/>
          <p:nvPr/>
        </p:nvSpPr>
        <p:spPr>
          <a:xfrm>
            <a:off x="41529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529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3</a:t>
            </a:r>
          </a:p>
        </p:txBody>
      </p:sp>
      <p:sp>
        <p:nvSpPr>
          <p:cNvPr id="22" name="Oval 21"/>
          <p:cNvSpPr/>
          <p:nvPr/>
        </p:nvSpPr>
        <p:spPr>
          <a:xfrm>
            <a:off x="76327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27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atl.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0000"/>
                </a:srgbClr>
              </a:gs>
              <a:gs pos="38000">
                <a:srgbClr val="10243A">
                  <a:alpha val="25000"/>
                </a:srgbClr>
              </a:gs>
              <a:gs pos="60000">
                <a:srgbClr val="10243A">
                  <a:alpha val="35000"/>
                </a:srgbClr>
              </a:gs>
              <a:gs pos="100000">
                <a:srgbClr val="10243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6096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EL MÓDULO DE ATLETISMO</a:t>
            </a:r>
          </a:p>
        </p:txBody>
      </p:sp>
      <p:sp>
        <p:nvSpPr>
          <p:cNvPr id="5" name="TextBox 4"/>
          <p:cNvSpPr txBox="1"/>
          <p:nvPr/>
        </p:nvSpPr>
        <p:spPr>
          <a:xfrm>
            <a:off x="812800" y="914400"/>
            <a:ext cx="8890000" cy="15875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DE VERDAD, BAJO CUBIERTA</a:t>
            </a:r>
          </a:p>
        </p:txBody>
      </p:sp>
      <p:sp>
        <p:nvSpPr>
          <p:cNvPr id="6" name="Rectangle 5"/>
          <p:cNvSpPr/>
          <p:nvPr/>
        </p:nvSpPr>
        <p:spPr>
          <a:xfrm>
            <a:off x="8128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8</a:t>
            </a:r>
          </a:p>
        </p:txBody>
      </p:sp>
      <p:sp>
        <p:nvSpPr>
          <p:cNvPr id="8" name="TextBox 7"/>
          <p:cNvSpPr txBox="1"/>
          <p:nvPr/>
        </p:nvSpPr>
        <p:spPr>
          <a:xfrm>
            <a:off x="8128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calles de velocidad</a:t>
            </a:r>
          </a:p>
        </p:txBody>
      </p:sp>
      <p:sp>
        <p:nvSpPr>
          <p:cNvPr id="9" name="Rectangle 8"/>
          <p:cNvSpPr/>
          <p:nvPr/>
        </p:nvSpPr>
        <p:spPr>
          <a:xfrm>
            <a:off x="35306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06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90 m</a:t>
            </a:r>
          </a:p>
        </p:txBody>
      </p:sp>
      <p:sp>
        <p:nvSpPr>
          <p:cNvPr id="11" name="TextBox 10"/>
          <p:cNvSpPr txBox="1"/>
          <p:nvPr/>
        </p:nvSpPr>
        <p:spPr>
          <a:xfrm>
            <a:off x="35306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de pista de velocidad, con zona de frenada</a:t>
            </a:r>
          </a:p>
        </p:txBody>
      </p:sp>
      <p:sp>
        <p:nvSpPr>
          <p:cNvPr id="12" name="Rectangle 11"/>
          <p:cNvSpPr/>
          <p:nvPr/>
        </p:nvSpPr>
        <p:spPr>
          <a:xfrm>
            <a:off x="62484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84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4</a:t>
            </a:r>
          </a:p>
        </p:txBody>
      </p:sp>
      <p:sp>
        <p:nvSpPr>
          <p:cNvPr id="14" name="TextBox 13"/>
          <p:cNvSpPr txBox="1"/>
          <p:nvPr/>
        </p:nvSpPr>
        <p:spPr>
          <a:xfrm>
            <a:off x="62484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zonas de salto: altura, longitud, triple y pértiga</a:t>
            </a:r>
          </a:p>
        </p:txBody>
      </p:sp>
      <p:sp>
        <p:nvSpPr>
          <p:cNvPr id="15" name="Rectangle 14"/>
          <p:cNvSpPr/>
          <p:nvPr/>
        </p:nvSpPr>
        <p:spPr>
          <a:xfrm>
            <a:off x="8966200" y="4064000"/>
            <a:ext cx="2413000" cy="381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62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RFEA</a:t>
            </a:r>
          </a:p>
        </p:txBody>
      </p:sp>
      <p:sp>
        <p:nvSpPr>
          <p:cNvPr id="17" name="TextBox 16"/>
          <p:cNvSpPr txBox="1"/>
          <p:nvPr/>
        </p:nvSpPr>
        <p:spPr>
          <a:xfrm>
            <a:off x="89662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módulo homologado por la federación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1358900"/>
            <a:ext cx="4572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DOS PISTAS MULTIDEPORTE</a:t>
            </a:r>
          </a:p>
        </p:txBody>
      </p:sp>
      <p:sp>
        <p:nvSpPr>
          <p:cNvPr id="3" name="TextBox 2"/>
          <p:cNvSpPr txBox="1"/>
          <p:nvPr/>
        </p:nvSpPr>
        <p:spPr>
          <a:xfrm>
            <a:off x="812800" y="1676400"/>
            <a:ext cx="4572000" cy="2032000"/>
          </a:xfrm>
          <a:prstGeom prst="rect">
            <a:avLst/>
          </a:prstGeom>
          <a:noFill/>
        </p:spPr>
        <p:txBody>
          <a:bodyPr wrap="square" lIns="0" rIns="0" tIns="0" bIns="0" anchor="t">
            <a:spAutoFit/>
          </a:bodyPr>
          <a:lstStyle/>
          <a:p>
            <a:pPr algn="l">
              <a:lnSpc>
                <a:spcPct val="95000"/>
              </a:lnSpc>
            </a:pPr>
            <a:r>
              <a:rPr sz="4800" b="1">
                <a:solidFill>
                  <a:srgbClr val="10243A"/>
                </a:solidFill>
                <a:latin typeface="Arial Narrow"/>
              </a:rPr>
              <a:t>UNA PISTA, MUCHOS DEPORTES</a:t>
            </a:r>
          </a:p>
        </p:txBody>
      </p:sp>
      <p:sp>
        <p:nvSpPr>
          <p:cNvPr id="4" name="Rounded Rectangle 3"/>
          <p:cNvSpPr/>
          <p:nvPr/>
        </p:nvSpPr>
        <p:spPr>
          <a:xfrm>
            <a:off x="8128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Fútbol sala</a:t>
            </a:r>
          </a:p>
        </p:txBody>
      </p:sp>
      <p:sp>
        <p:nvSpPr>
          <p:cNvPr id="6" name="Rounded Rectangle 5"/>
          <p:cNvSpPr/>
          <p:nvPr/>
        </p:nvSpPr>
        <p:spPr>
          <a:xfrm>
            <a:off x="23114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3114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Baloncesto</a:t>
            </a:r>
          </a:p>
        </p:txBody>
      </p:sp>
      <p:sp>
        <p:nvSpPr>
          <p:cNvPr id="8" name="Rounded Rectangle 7"/>
          <p:cNvSpPr/>
          <p:nvPr/>
        </p:nvSpPr>
        <p:spPr>
          <a:xfrm>
            <a:off x="3810000" y="3873500"/>
            <a:ext cx="12065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10000" y="3873500"/>
            <a:ext cx="12065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Voleibol</a:t>
            </a:r>
          </a:p>
        </p:txBody>
      </p:sp>
      <p:sp>
        <p:nvSpPr>
          <p:cNvPr id="10" name="Rounded Rectangle 9"/>
          <p:cNvSpPr/>
          <p:nvPr/>
        </p:nvSpPr>
        <p:spPr>
          <a:xfrm>
            <a:off x="812800" y="4343400"/>
            <a:ext cx="889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4343400"/>
            <a:ext cx="889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Tenis</a:t>
            </a:r>
          </a:p>
        </p:txBody>
      </p:sp>
      <p:sp>
        <p:nvSpPr>
          <p:cNvPr id="12" name="TextBox 11"/>
          <p:cNvSpPr txBox="1"/>
          <p:nvPr/>
        </p:nvSpPr>
        <p:spPr>
          <a:xfrm>
            <a:off x="812800" y="4953000"/>
            <a:ext cx="4572000" cy="1270000"/>
          </a:xfrm>
          <a:prstGeom prst="rect">
            <a:avLst/>
          </a:prstGeom>
          <a:noFill/>
        </p:spPr>
        <p:txBody>
          <a:bodyPr wrap="square" lIns="0" rIns="0" tIns="0" bIns="0" anchor="t">
            <a:spAutoFit/>
          </a:bodyPr>
          <a:lstStyle/>
          <a:p>
            <a:pPr algn="l">
              <a:lnSpc>
                <a:spcPct val="105000"/>
              </a:lnSpc>
            </a:pPr>
            <a:r>
              <a:rPr sz="1700" b="0">
                <a:solidFill>
                  <a:srgbClr val="3E4C5E"/>
                </a:solidFill>
                <a:latin typeface="Calibri"/>
              </a:rPr>
              <a:t>Cortinas motorizadas separan las pistas entre sí y del atletismo: varios grupos entrenan a la vez, sin molestarse.</a:t>
            </a:r>
          </a:p>
        </p:txBody>
      </p:sp>
      <p:pic>
        <p:nvPicPr>
          <p:cNvPr id="13" name="Picture 12" descr="r_cancha.jpg"/>
          <p:cNvPicPr>
            <a:picLocks noChangeAspect="1"/>
          </p:cNvPicPr>
          <p:nvPr/>
        </p:nvPicPr>
        <p:blipFill>
          <a:blip r:embed="rId3"/>
          <a:srcRect l="15286" r="15286"/>
          <a:stretch>
            <a:fillRect/>
          </a:stretch>
        </p:blipFill>
        <p:spPr>
          <a:xfrm>
            <a:off x="5842000" y="1206500"/>
            <a:ext cx="5715000" cy="4445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4572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LAS SUPERFICIES</a:t>
            </a:r>
          </a:p>
        </p:txBody>
      </p:sp>
      <p:sp>
        <p:nvSpPr>
          <p:cNvPr id="3" name="TextBox 2"/>
          <p:cNvSpPr txBox="1"/>
          <p:nvPr/>
        </p:nvSpPr>
        <p:spPr>
          <a:xfrm>
            <a:off x="812800" y="7112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DOS SUPERFICIES, CADA UNA PARA LO SUYO</a:t>
            </a:r>
          </a:p>
        </p:txBody>
      </p:sp>
      <p:sp>
        <p:nvSpPr>
          <p:cNvPr id="4" name="Rounded Rectangle 3"/>
          <p:cNvSpPr/>
          <p:nvPr/>
        </p:nvSpPr>
        <p:spPr>
          <a:xfrm>
            <a:off x="812800" y="1460500"/>
            <a:ext cx="5181600" cy="3651250"/>
          </a:xfrm>
          <a:prstGeom prst="roundRect">
            <a:avLst>
              <a:gd name="adj" fmla="val 347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_tartan.jpg"/>
          <p:cNvPicPr>
            <a:picLocks noChangeAspect="1"/>
          </p:cNvPicPr>
          <p:nvPr/>
        </p:nvPicPr>
        <p:blipFill>
          <a:blip r:embed="rId3"/>
          <a:srcRect t="2199" b="2199"/>
          <a:stretch>
            <a:fillRect/>
          </a:stretch>
        </p:blipFill>
        <p:spPr>
          <a:xfrm>
            <a:off x="812800" y="1460500"/>
            <a:ext cx="5181600" cy="1587500"/>
          </a:xfrm>
          <a:prstGeom prst="rect">
            <a:avLst/>
          </a:prstGeom>
        </p:spPr>
      </p:pic>
      <p:sp>
        <p:nvSpPr>
          <p:cNvPr id="6" name="Rectangle 5"/>
          <p:cNvSpPr/>
          <p:nvPr/>
        </p:nvSpPr>
        <p:spPr>
          <a:xfrm>
            <a:off x="965200" y="5048250"/>
            <a:ext cx="4876800" cy="635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41400" y="3238500"/>
            <a:ext cx="1270000" cy="279400"/>
          </a:xfrm>
          <a:prstGeom prst="roundRect">
            <a:avLst>
              <a:gd name="adj" fmla="val 50000"/>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238500"/>
            <a:ext cx="1270000" cy="279400"/>
          </a:xfrm>
          <a:prstGeom prst="rect">
            <a:avLst/>
          </a:prstGeom>
          <a:noFill/>
        </p:spPr>
        <p:txBody>
          <a:bodyPr wrap="square" lIns="0" rIns="0" tIns="0" bIns="0" anchor="ctr">
            <a:spAutoFit/>
          </a:bodyPr>
          <a:lstStyle/>
          <a:p>
            <a:pPr algn="ctr">
              <a:lnSpc>
                <a:spcPct val="100000"/>
              </a:lnSpc>
            </a:pPr>
            <a:r>
              <a:rPr sz="1300" b="1" spc="150">
                <a:solidFill>
                  <a:srgbClr val="F7F5F0"/>
                </a:solidFill>
                <a:latin typeface="Calibri"/>
              </a:rPr>
              <a:t>ATLETISMO</a:t>
            </a:r>
          </a:p>
        </p:txBody>
      </p:sp>
      <p:sp>
        <p:nvSpPr>
          <p:cNvPr id="9" name="TextBox 8"/>
          <p:cNvSpPr txBox="1"/>
          <p:nvPr/>
        </p:nvSpPr>
        <p:spPr>
          <a:xfrm>
            <a:off x="1041400" y="3606800"/>
            <a:ext cx="4724400" cy="393700"/>
          </a:xfrm>
          <a:prstGeom prst="rect">
            <a:avLst/>
          </a:prstGeom>
          <a:noFill/>
        </p:spPr>
        <p:txBody>
          <a:bodyPr wrap="square" lIns="0" rIns="0" tIns="0" bIns="0" anchor="t">
            <a:spAutoFit/>
          </a:bodyPr>
          <a:lstStyle/>
          <a:p>
            <a:pPr algn="l">
              <a:lnSpc>
                <a:spcPct val="100000"/>
              </a:lnSpc>
            </a:pPr>
            <a:r>
              <a:rPr sz="2500" b="1">
                <a:solidFill>
                  <a:srgbClr val="10243A"/>
                </a:solidFill>
                <a:latin typeface="Arial Narrow"/>
              </a:rPr>
              <a:t>TARTÁN SINTÉTICO</a:t>
            </a:r>
          </a:p>
        </p:txBody>
      </p:sp>
      <p:sp>
        <p:nvSpPr>
          <p:cNvPr id="10" name="TextBox 9"/>
          <p:cNvSpPr txBox="1"/>
          <p:nvPr/>
        </p:nvSpPr>
        <p:spPr>
          <a:xfrm>
            <a:off x="1041400" y="4076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Poroso y aplicado in situ</a:t>
            </a:r>
          </a:p>
        </p:txBody>
      </p:sp>
      <p:sp>
        <p:nvSpPr>
          <p:cNvPr id="11" name="TextBox 10"/>
          <p:cNvSpPr txBox="1"/>
          <p:nvPr/>
        </p:nvSpPr>
        <p:spPr>
          <a:xfrm>
            <a:off x="1041400" y="4394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Acabado en azul con resina roja</a:t>
            </a:r>
          </a:p>
        </p:txBody>
      </p:sp>
      <p:sp>
        <p:nvSpPr>
          <p:cNvPr id="12" name="TextBox 11"/>
          <p:cNvSpPr txBox="1"/>
          <p:nvPr/>
        </p:nvSpPr>
        <p:spPr>
          <a:xfrm>
            <a:off x="1041400" y="4711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Homologado por la RFEA</a:t>
            </a:r>
          </a:p>
        </p:txBody>
      </p:sp>
      <p:sp>
        <p:nvSpPr>
          <p:cNvPr id="13" name="Rounded Rectangle 12"/>
          <p:cNvSpPr/>
          <p:nvPr/>
        </p:nvSpPr>
        <p:spPr>
          <a:xfrm>
            <a:off x="6197600" y="1460500"/>
            <a:ext cx="5181600" cy="3651250"/>
          </a:xfrm>
          <a:prstGeom prst="roundRect">
            <a:avLst>
              <a:gd name="adj" fmla="val 347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_pvc.jpg"/>
          <p:cNvPicPr>
            <a:picLocks noChangeAspect="1"/>
          </p:cNvPicPr>
          <p:nvPr/>
        </p:nvPicPr>
        <p:blipFill>
          <a:blip r:embed="rId4"/>
          <a:srcRect t="2199" b="2199"/>
          <a:stretch>
            <a:fillRect/>
          </a:stretch>
        </p:blipFill>
        <p:spPr>
          <a:xfrm>
            <a:off x="6197600" y="1460500"/>
            <a:ext cx="5181600" cy="1587500"/>
          </a:xfrm>
          <a:prstGeom prst="rect">
            <a:avLst/>
          </a:prstGeom>
        </p:spPr>
      </p:pic>
      <p:sp>
        <p:nvSpPr>
          <p:cNvPr id="15" name="Rectangle 14"/>
          <p:cNvSpPr/>
          <p:nvPr/>
        </p:nvSpPr>
        <p:spPr>
          <a:xfrm>
            <a:off x="6350000" y="5048250"/>
            <a:ext cx="4876800" cy="635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26200" y="3238500"/>
            <a:ext cx="2667000" cy="279400"/>
          </a:xfrm>
          <a:prstGeom prst="roundRect">
            <a:avLst>
              <a:gd name="adj" fmla="val 50000"/>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3238500"/>
            <a:ext cx="2667000" cy="279400"/>
          </a:xfrm>
          <a:prstGeom prst="rect">
            <a:avLst/>
          </a:prstGeom>
          <a:noFill/>
        </p:spPr>
        <p:txBody>
          <a:bodyPr wrap="square" lIns="0" rIns="0" tIns="0" bIns="0" anchor="ctr">
            <a:spAutoFit/>
          </a:bodyPr>
          <a:lstStyle/>
          <a:p>
            <a:pPr algn="ctr">
              <a:lnSpc>
                <a:spcPct val="100000"/>
              </a:lnSpc>
            </a:pPr>
            <a:r>
              <a:rPr sz="1300" b="1" spc="150">
                <a:solidFill>
                  <a:srgbClr val="10243A"/>
                </a:solidFill>
                <a:latin typeface="Calibri"/>
              </a:rPr>
              <a:t>PISTAS MULTIDEPORTE</a:t>
            </a:r>
          </a:p>
        </p:txBody>
      </p:sp>
      <p:sp>
        <p:nvSpPr>
          <p:cNvPr id="18" name="TextBox 17"/>
          <p:cNvSpPr txBox="1"/>
          <p:nvPr/>
        </p:nvSpPr>
        <p:spPr>
          <a:xfrm>
            <a:off x="6426200" y="3606800"/>
            <a:ext cx="4724400" cy="393700"/>
          </a:xfrm>
          <a:prstGeom prst="rect">
            <a:avLst/>
          </a:prstGeom>
          <a:noFill/>
        </p:spPr>
        <p:txBody>
          <a:bodyPr wrap="square" lIns="0" rIns="0" tIns="0" bIns="0" anchor="t">
            <a:spAutoFit/>
          </a:bodyPr>
          <a:lstStyle/>
          <a:p>
            <a:pPr algn="l">
              <a:lnSpc>
                <a:spcPct val="100000"/>
              </a:lnSpc>
            </a:pPr>
            <a:r>
              <a:rPr sz="2500" b="1">
                <a:solidFill>
                  <a:srgbClr val="10243A"/>
                </a:solidFill>
                <a:latin typeface="Arial Narrow"/>
              </a:rPr>
              <a:t>PAVIMENTO DE PVC O RESINAS</a:t>
            </a:r>
          </a:p>
        </p:txBody>
      </p:sp>
      <p:sp>
        <p:nvSpPr>
          <p:cNvPr id="19" name="TextBox 18"/>
          <p:cNvSpPr txBox="1"/>
          <p:nvPr/>
        </p:nvSpPr>
        <p:spPr>
          <a:xfrm>
            <a:off x="6426200" y="4076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Como en los pabellones cubiertos</a:t>
            </a:r>
          </a:p>
        </p:txBody>
      </p:sp>
      <p:sp>
        <p:nvSpPr>
          <p:cNvPr id="20" name="TextBox 19"/>
          <p:cNvSpPr txBox="1"/>
          <p:nvPr/>
        </p:nvSpPr>
        <p:spPr>
          <a:xfrm>
            <a:off x="6426200" y="4394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Para fútbol sala, baloncesto, voleibol y tenis</a:t>
            </a:r>
          </a:p>
        </p:txBody>
      </p:sp>
      <p:sp>
        <p:nvSpPr>
          <p:cNvPr id="21" name="TextBox 20"/>
          <p:cNvSpPr txBox="1"/>
          <p:nvPr/>
        </p:nvSpPr>
        <p:spPr>
          <a:xfrm>
            <a:off x="6426200" y="4711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Líneas de cada deporte en la misma pista</a:t>
            </a:r>
          </a:p>
        </p:txBody>
      </p:sp>
      <p:sp>
        <p:nvSpPr>
          <p:cNvPr id="22" name="TextBox 21"/>
          <p:cNvSpPr txBox="1"/>
          <p:nvPr/>
        </p:nvSpPr>
        <p:spPr>
          <a:xfrm>
            <a:off x="812800" y="5289550"/>
            <a:ext cx="10566400" cy="317500"/>
          </a:xfrm>
          <a:prstGeom prst="rect">
            <a:avLst/>
          </a:prstGeom>
          <a:noFill/>
        </p:spPr>
        <p:txBody>
          <a:bodyPr wrap="square" lIns="0" rIns="0" tIns="0" bIns="0" anchor="t">
            <a:spAutoFit/>
          </a:bodyPr>
          <a:lstStyle/>
          <a:p>
            <a:pPr algn="l">
              <a:lnSpc>
                <a:spcPct val="100000"/>
              </a:lnSpc>
            </a:pPr>
            <a:r>
              <a:rPr sz="2000" b="1" spc="100">
                <a:solidFill>
                  <a:srgbClr val="10243A"/>
                </a:solidFill>
                <a:latin typeface="Arial Narrow"/>
              </a:rPr>
              <a:t>SE PUEDE EJECUTAR POR FASES</a:t>
            </a:r>
          </a:p>
        </p:txBody>
      </p:sp>
      <p:sp>
        <p:nvSpPr>
          <p:cNvPr id="23" name="Rounded Rectangle 22"/>
          <p:cNvSpPr/>
          <p:nvPr/>
        </p:nvSpPr>
        <p:spPr>
          <a:xfrm>
            <a:off x="812800" y="56896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56896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1 · Módulo de atletismo</a:t>
            </a:r>
          </a:p>
        </p:txBody>
      </p:sp>
      <p:sp>
        <p:nvSpPr>
          <p:cNvPr id="25" name="TextBox 24"/>
          <p:cNvSpPr txBox="1"/>
          <p:nvPr/>
        </p:nvSpPr>
        <p:spPr>
          <a:xfrm>
            <a:off x="4095750" y="5689600"/>
            <a:ext cx="355600" cy="419100"/>
          </a:xfrm>
          <a:prstGeom prst="rect">
            <a:avLst/>
          </a:prstGeom>
          <a:noFill/>
        </p:spPr>
        <p:txBody>
          <a:bodyPr wrap="square" lIns="0" rIns="0" tIns="0" bIns="0" anchor="ctr">
            <a:spAutoFit/>
          </a:bodyPr>
          <a:lstStyle/>
          <a:p>
            <a:pPr algn="ctr">
              <a:lnSpc>
                <a:spcPct val="100000"/>
              </a:lnSpc>
            </a:pPr>
            <a:r>
              <a:rPr sz="2000" b="1">
                <a:solidFill>
                  <a:srgbClr val="E8791B"/>
                </a:solidFill>
                <a:latin typeface="Calibri"/>
              </a:rPr>
              <a:t>→</a:t>
            </a:r>
          </a:p>
        </p:txBody>
      </p:sp>
      <p:sp>
        <p:nvSpPr>
          <p:cNvPr id="26" name="Rounded Rectangle 25"/>
          <p:cNvSpPr/>
          <p:nvPr/>
        </p:nvSpPr>
        <p:spPr>
          <a:xfrm>
            <a:off x="4451350" y="56896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51350" y="56896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2 · Pistas multideporte</a:t>
            </a:r>
          </a:p>
        </p:txBody>
      </p:sp>
      <p:sp>
        <p:nvSpPr>
          <p:cNvPr id="28" name="TextBox 27"/>
          <p:cNvSpPr txBox="1"/>
          <p:nvPr/>
        </p:nvSpPr>
        <p:spPr>
          <a:xfrm>
            <a:off x="7734300" y="5689600"/>
            <a:ext cx="355600" cy="419100"/>
          </a:xfrm>
          <a:prstGeom prst="rect">
            <a:avLst/>
          </a:prstGeom>
          <a:noFill/>
        </p:spPr>
        <p:txBody>
          <a:bodyPr wrap="square" lIns="0" rIns="0" tIns="0" bIns="0" anchor="ctr">
            <a:spAutoFit/>
          </a:bodyPr>
          <a:lstStyle/>
          <a:p>
            <a:pPr algn="ctr">
              <a:lnSpc>
                <a:spcPct val="100000"/>
              </a:lnSpc>
            </a:pPr>
            <a:r>
              <a:rPr sz="2000" b="1">
                <a:solidFill>
                  <a:srgbClr val="E8791B"/>
                </a:solidFill>
                <a:latin typeface="Calibri"/>
              </a:rPr>
              <a:t>→</a:t>
            </a:r>
          </a:p>
        </p:txBody>
      </p:sp>
      <p:sp>
        <p:nvSpPr>
          <p:cNvPr id="29" name="Rounded Rectangle 28"/>
          <p:cNvSpPr/>
          <p:nvPr/>
        </p:nvSpPr>
        <p:spPr>
          <a:xfrm>
            <a:off x="8089900" y="56896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89900" y="56896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3 · Cubierta y cerramiento</a:t>
            </a:r>
          </a:p>
        </p:txBody>
      </p:sp>
      <p:sp>
        <p:nvSpPr>
          <p:cNvPr id="31" name="TextBox 30"/>
          <p:cNvSpPr txBox="1"/>
          <p:nvPr/>
        </p:nvSpPr>
        <p:spPr>
          <a:xfrm>
            <a:off x="812800" y="6223000"/>
            <a:ext cx="10566400" cy="254000"/>
          </a:xfrm>
          <a:prstGeom prst="rect">
            <a:avLst/>
          </a:prstGeom>
          <a:noFill/>
        </p:spPr>
        <p:txBody>
          <a:bodyPr wrap="square" lIns="0" rIns="0" tIns="0" bIns="0" anchor="t">
            <a:spAutoFit/>
          </a:bodyPr>
          <a:lstStyle/>
          <a:p>
            <a:pPr algn="l">
              <a:lnSpc>
                <a:spcPct val="100000"/>
              </a:lnSpc>
            </a:pPr>
            <a:r>
              <a:rPr sz="1300" b="0">
                <a:solidFill>
                  <a:srgbClr val="3E4C5E"/>
                </a:solidFill>
                <a:latin typeface="Calibri"/>
              </a:rPr>
              <a:t>Cada superficie es independiente, así que el orden se puede adaptar. Estimación del proyecto: unos 6 meses en total.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17750" r="17750"/>
          <a:stretch>
            <a:fillRect/>
          </a:stretch>
        </p:blipFill>
        <p:spPr>
          <a:xfrm>
            <a:off x="812800" y="1143000"/>
            <a:ext cx="5461000" cy="4572000"/>
          </a:xfrm>
          <a:prstGeom prst="rect">
            <a:avLst/>
          </a:prstGeom>
        </p:spPr>
      </p:pic>
      <p:sp>
        <p:nvSpPr>
          <p:cNvPr id="3" name="TextBox 2"/>
          <p:cNvSpPr txBox="1"/>
          <p:nvPr/>
        </p:nvSpPr>
        <p:spPr>
          <a:xfrm>
            <a:off x="6731000" y="952500"/>
            <a:ext cx="4648200" cy="1841500"/>
          </a:xfrm>
          <a:prstGeom prst="rect">
            <a:avLst/>
          </a:prstGeom>
          <a:noFill/>
        </p:spPr>
        <p:txBody>
          <a:bodyPr wrap="square" lIns="0" rIns="0" tIns="0" bIns="0" anchor="t">
            <a:spAutoFit/>
          </a:bodyPr>
          <a:lstStyle/>
          <a:p>
            <a:pPr algn="l">
              <a:lnSpc>
                <a:spcPct val="95000"/>
              </a:lnSpc>
            </a:pPr>
            <a:r>
              <a:rPr sz="4200" b="1">
                <a:solidFill>
                  <a:srgbClr val="F7F5F0"/>
                </a:solidFill>
                <a:latin typeface="Arial Narrow"/>
              </a:rPr>
              <a:t>UNA NAVE PROTEGIDA Y CONFORTABLE</a:t>
            </a:r>
          </a:p>
        </p:txBody>
      </p:sp>
      <p:sp>
        <p:nvSpPr>
          <p:cNvPr id="4" name="Oval 3"/>
          <p:cNvSpPr/>
          <p:nvPr/>
        </p:nvSpPr>
        <p:spPr>
          <a:xfrm>
            <a:off x="6731000" y="30099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31000" y="30099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6" name="TextBox 5"/>
          <p:cNvSpPr txBox="1"/>
          <p:nvPr/>
        </p:nvSpPr>
        <p:spPr>
          <a:xfrm>
            <a:off x="7239000" y="29845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Cubierta renovada.</a:t>
            </a:r>
            <a:r>
              <a:rPr sz="1600" b="0">
                <a:solidFill>
                  <a:srgbClr val="F7F5F0"/>
                </a:solidFill>
                <a:latin typeface="Calibri"/>
              </a:rPr>
              <a:t> Más aislamiento y menos frío en invierno.</a:t>
            </a:r>
          </a:p>
        </p:txBody>
      </p:sp>
      <p:sp>
        <p:nvSpPr>
          <p:cNvPr id="7" name="Oval 6"/>
          <p:cNvSpPr/>
          <p:nvPr/>
        </p:nvSpPr>
        <p:spPr>
          <a:xfrm>
            <a:off x="6731000" y="36830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1000" y="36830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9" name="TextBox 8"/>
          <p:cNvSpPr txBox="1"/>
          <p:nvPr/>
        </p:nvSpPr>
        <p:spPr>
          <a:xfrm>
            <a:off x="7239000" y="36576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Luz natural.</a:t>
            </a:r>
            <a:r>
              <a:rPr sz="1600" b="0">
                <a:solidFill>
                  <a:srgbClr val="F7F5F0"/>
                </a:solidFill>
                <a:latin typeface="Calibri"/>
              </a:rPr>
              <a:t> Cerramiento translúcido y control del sol en la fachada oeste.</a:t>
            </a:r>
          </a:p>
        </p:txBody>
      </p:sp>
      <p:sp>
        <p:nvSpPr>
          <p:cNvPr id="10" name="Oval 9"/>
          <p:cNvSpPr/>
          <p:nvPr/>
        </p:nvSpPr>
        <p:spPr>
          <a:xfrm>
            <a:off x="6731000" y="43561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1000" y="43561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12" name="TextBox 11"/>
          <p:cNvSpPr txBox="1"/>
          <p:nvPr/>
        </p:nvSpPr>
        <p:spPr>
          <a:xfrm>
            <a:off x="7239000" y="43307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Espacio protegido.</a:t>
            </a:r>
            <a:r>
              <a:rPr sz="1600" b="0">
                <a:solidFill>
                  <a:srgbClr val="F7F5F0"/>
                </a:solidFill>
                <a:latin typeface="Calibri"/>
              </a:rPr>
              <a:t> Sin aves, sin lluvia y sin suciedad sobre la pista.</a:t>
            </a:r>
          </a:p>
        </p:txBody>
      </p:sp>
      <p:sp>
        <p:nvSpPr>
          <p:cNvPr id="13" name="Oval 12"/>
          <p:cNvSpPr/>
          <p:nvPr/>
        </p:nvSpPr>
        <p:spPr>
          <a:xfrm>
            <a:off x="6731000" y="50292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31000" y="50292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15" name="TextBox 14"/>
          <p:cNvSpPr txBox="1"/>
          <p:nvPr/>
        </p:nvSpPr>
        <p:spPr>
          <a:xfrm>
            <a:off x="7239000" y="50038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Entorno accesible.</a:t>
            </a:r>
            <a:r>
              <a:rPr sz="1600" b="0">
                <a:solidFill>
                  <a:srgbClr val="F7F5F0"/>
                </a:solidFill>
                <a:latin typeface="Calibri"/>
              </a:rPr>
              <a:t> Mejor recogida de agua y acceso peatonal desde el exterior.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QUÉ GANA CIUDAD REAL</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10243A"/>
                </a:solidFill>
                <a:latin typeface="Arial Narrow"/>
              </a:rPr>
              <a:t>UN ESPACIO PARA TODOS</a:t>
            </a:r>
          </a:p>
        </p:txBody>
      </p:sp>
      <p:sp>
        <p:nvSpPr>
          <p:cNvPr id="4" name="Rounded Rectangle 3"/>
          <p:cNvSpPr/>
          <p:nvPr/>
        </p:nvSpPr>
        <p:spPr>
          <a:xfrm>
            <a:off x="8128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7305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2200" y="28829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1</a:t>
            </a:r>
          </a:p>
        </p:txBody>
      </p:sp>
      <p:sp>
        <p:nvSpPr>
          <p:cNvPr id="8" name="TextBox 7"/>
          <p:cNvSpPr txBox="1"/>
          <p:nvPr/>
        </p:nvSpPr>
        <p:spPr>
          <a:xfrm>
            <a:off x="17272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CLUBES Y ESCUELAS</a:t>
            </a:r>
          </a:p>
        </p:txBody>
      </p:sp>
      <p:sp>
        <p:nvSpPr>
          <p:cNvPr id="9" name="TextBox 8"/>
          <p:cNvSpPr txBox="1"/>
          <p:nvPr/>
        </p:nvSpPr>
        <p:spPr>
          <a:xfrm>
            <a:off x="17272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Un espacio cubierto y versátil para entrenar con cualquier clima.</a:t>
            </a:r>
          </a:p>
        </p:txBody>
      </p:sp>
      <p:sp>
        <p:nvSpPr>
          <p:cNvPr id="10" name="Rounded Rectangle 9"/>
          <p:cNvSpPr/>
          <p:nvPr/>
        </p:nvSpPr>
        <p:spPr>
          <a:xfrm>
            <a:off x="61976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7600" y="27305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77000" y="28829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2</a:t>
            </a:r>
          </a:p>
        </p:txBody>
      </p:sp>
      <p:sp>
        <p:nvSpPr>
          <p:cNvPr id="14" name="TextBox 13"/>
          <p:cNvSpPr txBox="1"/>
          <p:nvPr/>
        </p:nvSpPr>
        <p:spPr>
          <a:xfrm>
            <a:off x="71120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ATLETAS EN TECNIFICACIÓN</a:t>
            </a:r>
          </a:p>
        </p:txBody>
      </p:sp>
      <p:sp>
        <p:nvSpPr>
          <p:cNvPr id="15" name="TextBox 14"/>
          <p:cNvSpPr txBox="1"/>
          <p:nvPr/>
        </p:nvSpPr>
        <p:spPr>
          <a:xfrm>
            <a:off x="71120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Calles y zonas de salto para trabajar la técnica durante todo el año.</a:t>
            </a:r>
          </a:p>
        </p:txBody>
      </p:sp>
      <p:sp>
        <p:nvSpPr>
          <p:cNvPr id="16" name="Rounded Rectangle 15"/>
          <p:cNvSpPr/>
          <p:nvPr/>
        </p:nvSpPr>
        <p:spPr>
          <a:xfrm>
            <a:off x="8128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5847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2200" y="47371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2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3</a:t>
            </a:r>
          </a:p>
        </p:txBody>
      </p:sp>
      <p:sp>
        <p:nvSpPr>
          <p:cNvPr id="20" name="TextBox 19"/>
          <p:cNvSpPr txBox="1"/>
          <p:nvPr/>
        </p:nvSpPr>
        <p:spPr>
          <a:xfrm>
            <a:off x="17272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COMPETICIONES Y EVENTOS</a:t>
            </a:r>
          </a:p>
        </p:txBody>
      </p:sp>
      <p:sp>
        <p:nvSpPr>
          <p:cNvPr id="21" name="TextBox 20"/>
          <p:cNvSpPr txBox="1"/>
          <p:nvPr/>
        </p:nvSpPr>
        <p:spPr>
          <a:xfrm>
            <a:off x="17272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Módulo de atletismo homologado por la RFEA.</a:t>
            </a:r>
          </a:p>
        </p:txBody>
      </p:sp>
      <p:sp>
        <p:nvSpPr>
          <p:cNvPr id="22" name="Rounded Rectangle 21"/>
          <p:cNvSpPr/>
          <p:nvPr/>
        </p:nvSpPr>
        <p:spPr>
          <a:xfrm>
            <a:off x="61976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7600" y="45847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7000" y="47371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4</a:t>
            </a:r>
          </a:p>
        </p:txBody>
      </p:sp>
      <p:sp>
        <p:nvSpPr>
          <p:cNvPr id="26" name="TextBox 25"/>
          <p:cNvSpPr txBox="1"/>
          <p:nvPr/>
        </p:nvSpPr>
        <p:spPr>
          <a:xfrm>
            <a:off x="71120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DEPORTE PARA TODOS</a:t>
            </a:r>
          </a:p>
        </p:txBody>
      </p:sp>
      <p:sp>
        <p:nvSpPr>
          <p:cNvPr id="27" name="TextBox 26"/>
          <p:cNvSpPr txBox="1"/>
          <p:nvPr/>
        </p:nvSpPr>
        <p:spPr>
          <a:xfrm>
            <a:off x="71120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Dos pistas multideporte abiertas a deportistas de todas las edades.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in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5000"/>
                </a:srgbClr>
              </a:gs>
              <a:gs pos="50000">
                <a:srgbClr val="10243A">
                  <a:alpha val="80000"/>
                </a:srgbClr>
              </a:gs>
              <a:gs pos="100000">
                <a:srgbClr val="10243A">
                  <a:alpha val="3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9685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UN MÓDULO PARA CIUDAD REAL</a:t>
            </a:r>
          </a:p>
        </p:txBody>
      </p:sp>
      <p:sp>
        <p:nvSpPr>
          <p:cNvPr id="5" name="TextBox 4"/>
          <p:cNvSpPr txBox="1"/>
          <p:nvPr/>
        </p:nvSpPr>
        <p:spPr>
          <a:xfrm>
            <a:off x="812800" y="2286000"/>
            <a:ext cx="8890000" cy="15240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Y DEPORTE BAJO CUBIERTA, TODO EL AÑO</a:t>
            </a:r>
          </a:p>
        </p:txBody>
      </p:sp>
      <p:sp>
        <p:nvSpPr>
          <p:cNvPr id="6" name="TextBox 5"/>
          <p:cNvSpPr txBox="1"/>
          <p:nvPr/>
        </p:nvSpPr>
        <p:spPr>
          <a:xfrm>
            <a:off x="812800" y="3937000"/>
            <a:ext cx="6350000" cy="381000"/>
          </a:xfrm>
          <a:prstGeom prst="rect">
            <a:avLst/>
          </a:prstGeom>
          <a:noFill/>
        </p:spPr>
        <p:txBody>
          <a:bodyPr wrap="square" lIns="0" rIns="0" tIns="0" bIns="0" anchor="t">
            <a:spAutoFit/>
          </a:bodyPr>
          <a:lstStyle/>
          <a:p>
            <a:pPr algn="l">
              <a:lnSpc>
                <a:spcPct val="100000"/>
              </a:lnSpc>
            </a:pPr>
            <a:r>
              <a:rPr sz="2000" b="0">
                <a:solidFill>
                  <a:srgbClr val="E3EAF2"/>
                </a:solidFill>
                <a:latin typeface="Calibri"/>
              </a:rPr>
              <a:t>Un espacio para entrenar, tecnificar y competir.</a:t>
            </a:r>
          </a:p>
        </p:txBody>
      </p:sp>
      <p:sp>
        <p:nvSpPr>
          <p:cNvPr id="7" name="Rounded Rectangle 6"/>
          <p:cNvSpPr/>
          <p:nvPr/>
        </p:nvSpPr>
        <p:spPr>
          <a:xfrm>
            <a:off x="812800" y="52959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_ayto.png"/>
          <p:cNvPicPr>
            <a:picLocks noChangeAspect="1"/>
          </p:cNvPicPr>
          <p:nvPr/>
        </p:nvPicPr>
        <p:blipFill>
          <a:blip r:embed="rId4"/>
          <a:stretch>
            <a:fillRect/>
          </a:stretch>
        </p:blipFill>
        <p:spPr>
          <a:xfrm>
            <a:off x="1016000" y="5424311"/>
            <a:ext cx="1270000" cy="797277"/>
          </a:xfrm>
          <a:prstGeom prst="rect">
            <a:avLst/>
          </a:prstGeom>
        </p:spPr>
      </p:pic>
      <p:pic>
        <p:nvPicPr>
          <p:cNvPr id="9" name="Picture 8" descr="logo_deporte.png"/>
          <p:cNvPicPr>
            <a:picLocks noChangeAspect="1"/>
          </p:cNvPicPr>
          <p:nvPr/>
        </p:nvPicPr>
        <p:blipFill>
          <a:blip r:embed="rId5"/>
          <a:stretch>
            <a:fillRect/>
          </a:stretch>
        </p:blipFill>
        <p:spPr>
          <a:xfrm>
            <a:off x="2540000" y="5621443"/>
            <a:ext cx="1778000" cy="4030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