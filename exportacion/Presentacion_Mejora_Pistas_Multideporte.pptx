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Bienvenida. Presentamos el proyecto de mejora de las pistas multideporte del Polideportivo Juan Carlos I: qué problema resuelve, por qué es necesario y cómo será el nuevo módulo.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Empezamos por la realidad: tenemos un espacio cubierto muy grande, pero que no rinde todo lo que podría. El pavimento está desgastado y la nave está abierta al exterior.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motivos claros. Uno, el pavimento sufre. Dos, la nave no protege ni del tiempo ni de las aves. Tres, no hay un espacio cubierto específico para el atletismo ni una forma ordenada de repartir los usos.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se ve el salto: a la izquierda, cómo está hoy; a la derecha, una recreación en 3D del módulo ya renovado, con pistas multideporte y atletismo bajo la misma cubierta.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respuesta es sencilla de explicar: aprovechar el mismo espacio para tres cosas. Dos pistas multideporte, un módulo de atletismo cubierto y una nave renovada que lo protege todo.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se organiza el módulo visto desde arriba: arriba, las ocho calles de atletismo; en el centro, las zonas de salto; y abajo, las dos pistas multideporte, separadas entre sí por cortinas.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corazón del proyecto: un módulo de atletismo cubierto, con ocho calles de sesenta metros y zonas de salto. Se entrega homologado por la Real Federación Española de Atletismo. Permite entrenar y tecnificar todo el año, llueva o haga frío.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dos pistas multideporte admiten fútbol sala, baloncesto, voleibol y tenis. Y gracias a las cortinas motorizadas, se pueden usar a la vez que el atletismo sin interferirse.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nave también se renueva: nueva cubierta aislante, un cerramiento que deja pasar la luz, y un entorno exterior más cómodo y accesible. El resultado es un espacio protegido de la lluvia, el frío, el viento y las aves.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beneficiarios son muy distintos: clubes y escuelas, atletas que quieren tecnificarse, organizadores de competiciones y cualquier vecino que quiera hacer deporte.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con la idea central: un espacio cubierto que permite practicar atletismo y deporte todo el año.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43A"/>
        </a:solidFill>
        <a:effectLst/>
      </p:bgPr>
    </p:bg>
    <p:spTree>
      <p:nvGrpSpPr>
        <p:cNvPr id="1" name=""/>
        <p:cNvGrpSpPr/>
        <p:nvPr/>
      </p:nvGrpSpPr>
      <p:grpSpPr/>
      <p:pic>
        <p:nvPicPr>
          <p:cNvPr id="2" name="Picture 1" descr="r_ext.jpg"/>
          <p:cNvPicPr>
            <a:picLocks noChangeAspect="1"/>
          </p:cNvPicPr>
          <p:nvPr/>
        </p:nvPicPr>
        <p:blipFill>
          <a:blip r:embed="rId3"/>
          <a:srcRect l="2000" r="2000"/>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10243A">
                  <a:alpha val="94000"/>
                </a:srgbClr>
              </a:gs>
              <a:gs pos="42000">
                <a:srgbClr val="10243A">
                  <a:alpha val="78000"/>
                </a:srgbClr>
              </a:gs>
              <a:gs pos="100000">
                <a:srgbClr val="10243A">
                  <a:alpha val="500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12800" y="508000"/>
            <a:ext cx="3708400" cy="1054100"/>
          </a:xfrm>
          <a:prstGeom prst="roundRect">
            <a:avLst>
              <a:gd name="adj" fmla="val 9638"/>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ayto.png"/>
          <p:cNvPicPr>
            <a:picLocks noChangeAspect="1"/>
          </p:cNvPicPr>
          <p:nvPr/>
        </p:nvPicPr>
        <p:blipFill>
          <a:blip r:embed="rId4"/>
          <a:stretch>
            <a:fillRect/>
          </a:stretch>
        </p:blipFill>
        <p:spPr>
          <a:xfrm>
            <a:off x="1016000" y="636411"/>
            <a:ext cx="1270000" cy="797277"/>
          </a:xfrm>
          <a:prstGeom prst="rect">
            <a:avLst/>
          </a:prstGeom>
        </p:spPr>
      </p:pic>
      <p:pic>
        <p:nvPicPr>
          <p:cNvPr id="6" name="Picture 5" descr="logo_deporte.png"/>
          <p:cNvPicPr>
            <a:picLocks noChangeAspect="1"/>
          </p:cNvPicPr>
          <p:nvPr/>
        </p:nvPicPr>
        <p:blipFill>
          <a:blip r:embed="rId5"/>
          <a:stretch>
            <a:fillRect/>
          </a:stretch>
        </p:blipFill>
        <p:spPr>
          <a:xfrm>
            <a:off x="2540000" y="833543"/>
            <a:ext cx="1778000" cy="403013"/>
          </a:xfrm>
          <a:prstGeom prst="rect">
            <a:avLst/>
          </a:prstGeom>
        </p:spPr>
      </p:pic>
      <p:sp>
        <p:nvSpPr>
          <p:cNvPr id="7" name="TextBox 6"/>
          <p:cNvSpPr txBox="1"/>
          <p:nvPr/>
        </p:nvSpPr>
        <p:spPr>
          <a:xfrm>
            <a:off x="812800" y="2959100"/>
            <a:ext cx="6985000" cy="228600"/>
          </a:xfrm>
          <a:prstGeom prst="rect">
            <a:avLst/>
          </a:prstGeom>
          <a:noFill/>
        </p:spPr>
        <p:txBody>
          <a:bodyPr wrap="square" lIns="0" rIns="0" tIns="0" bIns="0" anchor="t">
            <a:spAutoFit/>
          </a:bodyPr>
          <a:lstStyle/>
          <a:p>
            <a:pPr algn="l">
              <a:lnSpc>
                <a:spcPct val="100000"/>
              </a:lnSpc>
            </a:pPr>
            <a:r>
              <a:rPr sz="1400" b="1" spc="200">
                <a:solidFill>
                  <a:srgbClr val="F29A4A"/>
                </a:solidFill>
                <a:latin typeface="Calibri"/>
              </a:rPr>
              <a:t>POLIDEPORTIVO JUAN CARLOS I · CIUDAD REAL</a:t>
            </a:r>
          </a:p>
        </p:txBody>
      </p:sp>
      <p:sp>
        <p:nvSpPr>
          <p:cNvPr id="8" name="TextBox 7"/>
          <p:cNvSpPr txBox="1"/>
          <p:nvPr/>
        </p:nvSpPr>
        <p:spPr>
          <a:xfrm>
            <a:off x="812800" y="3302000"/>
            <a:ext cx="7302500" cy="2032000"/>
          </a:xfrm>
          <a:prstGeom prst="rect">
            <a:avLst/>
          </a:prstGeom>
          <a:noFill/>
        </p:spPr>
        <p:txBody>
          <a:bodyPr wrap="square" lIns="0" rIns="0" tIns="0" bIns="0" anchor="t">
            <a:spAutoFit/>
          </a:bodyPr>
          <a:lstStyle/>
          <a:p>
            <a:pPr algn="l">
              <a:lnSpc>
                <a:spcPct val="92000"/>
              </a:lnSpc>
            </a:pPr>
            <a:r>
              <a:rPr sz="6800" b="1">
                <a:solidFill>
                  <a:srgbClr val="F7F5F0"/>
                </a:solidFill>
                <a:latin typeface="Arial Narrow"/>
              </a:rPr>
              <a:t>MEJORA DE PISTAS MULTIDEPORTE</a:t>
            </a:r>
          </a:p>
        </p:txBody>
      </p:sp>
      <p:sp>
        <p:nvSpPr>
          <p:cNvPr id="9" name="TextBox 8"/>
          <p:cNvSpPr txBox="1"/>
          <p:nvPr/>
        </p:nvSpPr>
        <p:spPr>
          <a:xfrm>
            <a:off x="812800" y="5511800"/>
            <a:ext cx="6096000" cy="698500"/>
          </a:xfrm>
          <a:prstGeom prst="rect">
            <a:avLst/>
          </a:prstGeom>
          <a:noFill/>
        </p:spPr>
        <p:txBody>
          <a:bodyPr wrap="square" lIns="0" rIns="0" tIns="0" bIns="0" anchor="t">
            <a:spAutoFit/>
          </a:bodyPr>
          <a:lstStyle/>
          <a:p>
            <a:pPr algn="l">
              <a:lnSpc>
                <a:spcPct val="100000"/>
              </a:lnSpc>
            </a:pPr>
            <a:r>
              <a:rPr sz="2100" b="0">
                <a:solidFill>
                  <a:srgbClr val="E3EAF2"/>
                </a:solidFill>
                <a:latin typeface="Calibri"/>
              </a:rPr>
              <a:t>Un espacio cubierto para entrenar, competir y crecer todo el año.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pic>
        <p:nvPicPr>
          <p:cNvPr id="2" name="Picture 1" descr="antes.jpg"/>
          <p:cNvPicPr>
            <a:picLocks noChangeAspect="1"/>
          </p:cNvPicPr>
          <p:nvPr/>
        </p:nvPicPr>
        <p:blipFill>
          <a:blip r:embed="rId3"/>
          <a:srcRect l="4003" r="4003"/>
          <a:stretch>
            <a:fillRect/>
          </a:stretch>
        </p:blipFill>
        <p:spPr>
          <a:xfrm>
            <a:off x="812800" y="1295400"/>
            <a:ext cx="5588000" cy="4064000"/>
          </a:xfrm>
          <a:prstGeom prst="rect">
            <a:avLst/>
          </a:prstGeom>
        </p:spPr>
      </p:pic>
      <p:sp>
        <p:nvSpPr>
          <p:cNvPr id="3" name="TextBox 2"/>
          <p:cNvSpPr txBox="1"/>
          <p:nvPr/>
        </p:nvSpPr>
        <p:spPr>
          <a:xfrm>
            <a:off x="6908800" y="1498600"/>
            <a:ext cx="4470400" cy="228600"/>
          </a:xfrm>
          <a:prstGeom prst="rect">
            <a:avLst/>
          </a:prstGeom>
          <a:noFill/>
        </p:spPr>
        <p:txBody>
          <a:bodyPr wrap="square" lIns="0" rIns="0" tIns="0" bIns="0" anchor="t">
            <a:spAutoFit/>
          </a:bodyPr>
          <a:lstStyle/>
          <a:p>
            <a:pPr algn="l">
              <a:lnSpc>
                <a:spcPct val="100000"/>
              </a:lnSpc>
            </a:pPr>
            <a:r>
              <a:rPr sz="1400" b="1" spc="200">
                <a:solidFill>
                  <a:srgbClr val="B95A0C"/>
                </a:solidFill>
                <a:latin typeface="Calibri"/>
              </a:rPr>
              <a:t>PUNTO DE PARTIDA</a:t>
            </a:r>
          </a:p>
        </p:txBody>
      </p:sp>
      <p:sp>
        <p:nvSpPr>
          <p:cNvPr id="4" name="TextBox 3"/>
          <p:cNvSpPr txBox="1"/>
          <p:nvPr/>
        </p:nvSpPr>
        <p:spPr>
          <a:xfrm>
            <a:off x="6908800" y="1841500"/>
            <a:ext cx="4470400" cy="2413000"/>
          </a:xfrm>
          <a:prstGeom prst="rect">
            <a:avLst/>
          </a:prstGeom>
          <a:noFill/>
        </p:spPr>
        <p:txBody>
          <a:bodyPr wrap="square" lIns="0" rIns="0" tIns="0" bIns="0" anchor="t">
            <a:spAutoFit/>
          </a:bodyPr>
          <a:lstStyle/>
          <a:p>
            <a:pPr algn="l">
              <a:lnSpc>
                <a:spcPct val="95000"/>
              </a:lnSpc>
            </a:pPr>
            <a:r>
              <a:rPr sz="4200" b="1">
                <a:solidFill>
                  <a:srgbClr val="10243A"/>
                </a:solidFill>
                <a:latin typeface="Arial Narrow"/>
              </a:rPr>
              <a:t>UNA GRAN PISTA CUBIERTA QUE PEDÍA RENOVARSE</a:t>
            </a:r>
          </a:p>
        </p:txBody>
      </p:sp>
      <p:sp>
        <p:nvSpPr>
          <p:cNvPr id="5" name="TextBox 4"/>
          <p:cNvSpPr txBox="1"/>
          <p:nvPr/>
        </p:nvSpPr>
        <p:spPr>
          <a:xfrm>
            <a:off x="6908800" y="4381500"/>
            <a:ext cx="4470400" cy="1651000"/>
          </a:xfrm>
          <a:prstGeom prst="rect">
            <a:avLst/>
          </a:prstGeom>
          <a:noFill/>
        </p:spPr>
        <p:txBody>
          <a:bodyPr wrap="square" lIns="0" rIns="0" tIns="0" bIns="0" anchor="t">
            <a:spAutoFit/>
          </a:bodyPr>
          <a:lstStyle/>
          <a:p>
            <a:pPr algn="l">
              <a:lnSpc>
                <a:spcPct val="105000"/>
              </a:lnSpc>
            </a:pPr>
            <a:r>
              <a:rPr sz="1800" b="0">
                <a:solidFill>
                  <a:srgbClr val="3E4C5E"/>
                </a:solidFill>
                <a:latin typeface="Calibri"/>
              </a:rPr>
              <a:t>El Polideportivo Juan Carlos I cuenta con un amplio espacio cubierto. Hoy tiene el pavimento desgastado, una nave abierta a la lluvia, al viento y a las aves, y una sola pista para todos los deportes.</a:t>
            </a:r>
          </a:p>
        </p:txBody>
      </p:sp>
      <p:sp>
        <p:nvSpPr>
          <p:cNvPr id="6" name="TextBox 5"/>
          <p:cNvSpPr txBox="1"/>
          <p:nvPr/>
        </p:nvSpPr>
        <p:spPr>
          <a:xfrm>
            <a:off x="812800" y="6223000"/>
            <a:ext cx="7620000" cy="190500"/>
          </a:xfrm>
          <a:prstGeom prst="rect">
            <a:avLst/>
          </a:prstGeom>
          <a:noFill/>
        </p:spPr>
        <p:txBody>
          <a:bodyPr wrap="square" lIns="0" rIns="0" tIns="0" bIns="0" anchor="t">
            <a:spAutoFit/>
          </a:bodyPr>
          <a:lstStyle/>
          <a:p>
            <a:pPr algn="l">
              <a:lnSpc>
                <a:spcPct val="100000"/>
              </a:lnSpc>
            </a:pPr>
            <a:r>
              <a:rPr sz="1200" b="0">
                <a:solidFill>
                  <a:srgbClr val="6B7888"/>
                </a:solidFill>
                <a:latin typeface="Calibri"/>
              </a:rPr>
              <a:t>Estado actual de la pista · Polideportivo Juan Carlos 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43A"/>
        </a:solidFill>
        <a:effectLst/>
      </p:bgPr>
    </p:bg>
    <p:spTree>
      <p:nvGrpSpPr>
        <p:cNvPr id="1" name=""/>
        <p:cNvGrpSpPr/>
        <p:nvPr/>
      </p:nvGrpSpPr>
      <p:grpSpPr/>
      <p:sp>
        <p:nvSpPr>
          <p:cNvPr id="2" name="TextBox 1"/>
          <p:cNvSpPr txBox="1"/>
          <p:nvPr/>
        </p:nvSpPr>
        <p:spPr>
          <a:xfrm>
            <a:off x="812800" y="812800"/>
            <a:ext cx="6350000" cy="228600"/>
          </a:xfrm>
          <a:prstGeom prst="rect">
            <a:avLst/>
          </a:prstGeom>
          <a:noFill/>
        </p:spPr>
        <p:txBody>
          <a:bodyPr wrap="square" lIns="0" rIns="0" tIns="0" bIns="0" anchor="t">
            <a:spAutoFit/>
          </a:bodyPr>
          <a:lstStyle/>
          <a:p>
            <a:pPr algn="l">
              <a:lnSpc>
                <a:spcPct val="100000"/>
              </a:lnSpc>
            </a:pPr>
            <a:r>
              <a:rPr sz="1400" b="1" spc="200">
                <a:solidFill>
                  <a:srgbClr val="F29A4A"/>
                </a:solidFill>
                <a:latin typeface="Calibri"/>
              </a:rPr>
              <a:t>POR QUÉ ES NECESARIO</a:t>
            </a:r>
          </a:p>
        </p:txBody>
      </p:sp>
      <p:sp>
        <p:nvSpPr>
          <p:cNvPr id="3" name="TextBox 2"/>
          <p:cNvSpPr txBox="1"/>
          <p:nvPr/>
        </p:nvSpPr>
        <p:spPr>
          <a:xfrm>
            <a:off x="812800" y="1117600"/>
            <a:ext cx="10566400" cy="762000"/>
          </a:xfrm>
          <a:prstGeom prst="rect">
            <a:avLst/>
          </a:prstGeom>
          <a:noFill/>
        </p:spPr>
        <p:txBody>
          <a:bodyPr wrap="square" lIns="0" rIns="0" tIns="0" bIns="0" anchor="t">
            <a:spAutoFit/>
          </a:bodyPr>
          <a:lstStyle/>
          <a:p>
            <a:pPr algn="l">
              <a:lnSpc>
                <a:spcPct val="100000"/>
              </a:lnSpc>
            </a:pPr>
            <a:r>
              <a:rPr sz="4800" b="1">
                <a:solidFill>
                  <a:srgbClr val="F7F5F0"/>
                </a:solidFill>
                <a:latin typeface="Arial Narrow"/>
              </a:rPr>
              <a:t>TRES RAZONES PARA ACTUAR</a:t>
            </a:r>
          </a:p>
        </p:txBody>
      </p:sp>
      <p:sp>
        <p:nvSpPr>
          <p:cNvPr id="4" name="Rounded Rectangle 3"/>
          <p:cNvSpPr/>
          <p:nvPr/>
        </p:nvSpPr>
        <p:spPr>
          <a:xfrm>
            <a:off x="812800" y="2603500"/>
            <a:ext cx="3352800" cy="3175000"/>
          </a:xfrm>
          <a:prstGeom prst="roundRect">
            <a:avLst>
              <a:gd name="adj" fmla="val 4000"/>
            </a:avLst>
          </a:prstGeom>
          <a:solidFill>
            <a:srgbClr val="1B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5200" y="2603500"/>
            <a:ext cx="3048000" cy="50800"/>
          </a:xfrm>
          <a:prstGeom prst="rect">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7600" y="2984500"/>
            <a:ext cx="533400" cy="533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7600" y="2984500"/>
            <a:ext cx="533400" cy="533400"/>
          </a:xfrm>
          <a:prstGeom prst="rect">
            <a:avLst/>
          </a:prstGeom>
          <a:noFill/>
        </p:spPr>
        <p:txBody>
          <a:bodyPr wrap="square" lIns="0" rIns="0" tIns="0" bIns="0" anchor="ctr">
            <a:spAutoFit/>
          </a:bodyPr>
          <a:lstStyle/>
          <a:p>
            <a:pPr algn="ctr">
              <a:lnSpc>
                <a:spcPct val="100000"/>
              </a:lnSpc>
            </a:pPr>
            <a:r>
              <a:rPr sz="2600" b="1">
                <a:solidFill>
                  <a:srgbClr val="10243A"/>
                </a:solidFill>
                <a:latin typeface="Arial Narrow"/>
              </a:rPr>
              <a:t>1</a:t>
            </a:r>
          </a:p>
        </p:txBody>
      </p:sp>
      <p:sp>
        <p:nvSpPr>
          <p:cNvPr id="8" name="TextBox 7"/>
          <p:cNvSpPr txBox="1"/>
          <p:nvPr/>
        </p:nvSpPr>
        <p:spPr>
          <a:xfrm>
            <a:off x="1117600" y="3683000"/>
            <a:ext cx="2743200" cy="825500"/>
          </a:xfrm>
          <a:prstGeom prst="rect">
            <a:avLst/>
          </a:prstGeom>
          <a:noFill/>
        </p:spPr>
        <p:txBody>
          <a:bodyPr wrap="square" lIns="0" rIns="0" tIns="0" bIns="0" anchor="t">
            <a:spAutoFit/>
          </a:bodyPr>
          <a:lstStyle/>
          <a:p>
            <a:pPr algn="l">
              <a:lnSpc>
                <a:spcPct val="95000"/>
              </a:lnSpc>
            </a:pPr>
            <a:r>
              <a:rPr sz="2600" b="1">
                <a:solidFill>
                  <a:srgbClr val="F7F5F0"/>
                </a:solidFill>
                <a:latin typeface="Arial Narrow"/>
              </a:rPr>
              <a:t>PAVIMENTO DETERIORADO</a:t>
            </a:r>
          </a:p>
        </p:txBody>
      </p:sp>
      <p:sp>
        <p:nvSpPr>
          <p:cNvPr id="9" name="TextBox 8"/>
          <p:cNvSpPr txBox="1"/>
          <p:nvPr/>
        </p:nvSpPr>
        <p:spPr>
          <a:xfrm>
            <a:off x="1117600" y="4635500"/>
            <a:ext cx="2743200" cy="1016000"/>
          </a:xfrm>
          <a:prstGeom prst="rect">
            <a:avLst/>
          </a:prstGeom>
          <a:noFill/>
        </p:spPr>
        <p:txBody>
          <a:bodyPr wrap="square" lIns="0" rIns="0" tIns="0" bIns="0" anchor="t">
            <a:spAutoFit/>
          </a:bodyPr>
          <a:lstStyle/>
          <a:p>
            <a:pPr algn="l">
              <a:lnSpc>
                <a:spcPct val="105000"/>
              </a:lnSpc>
            </a:pPr>
            <a:r>
              <a:rPr sz="1600" b="0">
                <a:solidFill>
                  <a:srgbClr val="D5E0EC"/>
                </a:solidFill>
                <a:latin typeface="Calibri"/>
              </a:rPr>
              <a:t>El uso continuado y las aves que anidan dentro dañan la superficie de juego.</a:t>
            </a:r>
          </a:p>
        </p:txBody>
      </p:sp>
      <p:sp>
        <p:nvSpPr>
          <p:cNvPr id="10" name="Rounded Rectangle 9"/>
          <p:cNvSpPr/>
          <p:nvPr/>
        </p:nvSpPr>
        <p:spPr>
          <a:xfrm>
            <a:off x="4419600" y="2603500"/>
            <a:ext cx="3352800" cy="3175000"/>
          </a:xfrm>
          <a:prstGeom prst="roundRect">
            <a:avLst>
              <a:gd name="adj" fmla="val 4000"/>
            </a:avLst>
          </a:prstGeom>
          <a:solidFill>
            <a:srgbClr val="1B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2603500"/>
            <a:ext cx="3048000" cy="50800"/>
          </a:xfrm>
          <a:prstGeom prst="rect">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24400" y="2984500"/>
            <a:ext cx="533400" cy="533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24400" y="2984500"/>
            <a:ext cx="533400" cy="533400"/>
          </a:xfrm>
          <a:prstGeom prst="rect">
            <a:avLst/>
          </a:prstGeom>
          <a:noFill/>
        </p:spPr>
        <p:txBody>
          <a:bodyPr wrap="square" lIns="0" rIns="0" tIns="0" bIns="0" anchor="ctr">
            <a:spAutoFit/>
          </a:bodyPr>
          <a:lstStyle/>
          <a:p>
            <a:pPr algn="ctr">
              <a:lnSpc>
                <a:spcPct val="100000"/>
              </a:lnSpc>
            </a:pPr>
            <a:r>
              <a:rPr sz="2600" b="1">
                <a:solidFill>
                  <a:srgbClr val="10243A"/>
                </a:solidFill>
                <a:latin typeface="Arial Narrow"/>
              </a:rPr>
              <a:t>2</a:t>
            </a:r>
          </a:p>
        </p:txBody>
      </p:sp>
      <p:sp>
        <p:nvSpPr>
          <p:cNvPr id="14" name="TextBox 13"/>
          <p:cNvSpPr txBox="1"/>
          <p:nvPr/>
        </p:nvSpPr>
        <p:spPr>
          <a:xfrm>
            <a:off x="4724400" y="3683000"/>
            <a:ext cx="2743200" cy="825500"/>
          </a:xfrm>
          <a:prstGeom prst="rect">
            <a:avLst/>
          </a:prstGeom>
          <a:noFill/>
        </p:spPr>
        <p:txBody>
          <a:bodyPr wrap="square" lIns="0" rIns="0" tIns="0" bIns="0" anchor="t">
            <a:spAutoFit/>
          </a:bodyPr>
          <a:lstStyle/>
          <a:p>
            <a:pPr algn="l">
              <a:lnSpc>
                <a:spcPct val="95000"/>
              </a:lnSpc>
            </a:pPr>
            <a:r>
              <a:rPr sz="2600" b="1">
                <a:solidFill>
                  <a:srgbClr val="F7F5F0"/>
                </a:solidFill>
                <a:latin typeface="Arial Narrow"/>
              </a:rPr>
              <a:t>UNA NAVE A LA INTEMPERIE</a:t>
            </a:r>
          </a:p>
        </p:txBody>
      </p:sp>
      <p:sp>
        <p:nvSpPr>
          <p:cNvPr id="15" name="TextBox 14"/>
          <p:cNvSpPr txBox="1"/>
          <p:nvPr/>
        </p:nvSpPr>
        <p:spPr>
          <a:xfrm>
            <a:off x="4724400" y="4635500"/>
            <a:ext cx="2743200" cy="1016000"/>
          </a:xfrm>
          <a:prstGeom prst="rect">
            <a:avLst/>
          </a:prstGeom>
          <a:noFill/>
        </p:spPr>
        <p:txBody>
          <a:bodyPr wrap="square" lIns="0" rIns="0" tIns="0" bIns="0" anchor="t">
            <a:spAutoFit/>
          </a:bodyPr>
          <a:lstStyle/>
          <a:p>
            <a:pPr algn="l">
              <a:lnSpc>
                <a:spcPct val="105000"/>
              </a:lnSpc>
            </a:pPr>
            <a:r>
              <a:rPr sz="1600" b="0">
                <a:solidFill>
                  <a:srgbClr val="D5E0EC"/>
                </a:solidFill>
                <a:latin typeface="Calibri"/>
              </a:rPr>
              <a:t>Lluvia, frío, viento y suciedad entran con facilidad y limitan el uso del espacio.</a:t>
            </a:r>
          </a:p>
        </p:txBody>
      </p:sp>
      <p:sp>
        <p:nvSpPr>
          <p:cNvPr id="16" name="Rounded Rectangle 15"/>
          <p:cNvSpPr/>
          <p:nvPr/>
        </p:nvSpPr>
        <p:spPr>
          <a:xfrm>
            <a:off x="8026400" y="2603500"/>
            <a:ext cx="3352800" cy="3175000"/>
          </a:xfrm>
          <a:prstGeom prst="roundRect">
            <a:avLst>
              <a:gd name="adj" fmla="val 4000"/>
            </a:avLst>
          </a:prstGeom>
          <a:solidFill>
            <a:srgbClr val="1B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78800" y="2603500"/>
            <a:ext cx="3048000" cy="50800"/>
          </a:xfrm>
          <a:prstGeom prst="rect">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31200" y="2984500"/>
            <a:ext cx="533400" cy="533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1200" y="2984500"/>
            <a:ext cx="533400" cy="533400"/>
          </a:xfrm>
          <a:prstGeom prst="rect">
            <a:avLst/>
          </a:prstGeom>
          <a:noFill/>
        </p:spPr>
        <p:txBody>
          <a:bodyPr wrap="square" lIns="0" rIns="0" tIns="0" bIns="0" anchor="ctr">
            <a:spAutoFit/>
          </a:bodyPr>
          <a:lstStyle/>
          <a:p>
            <a:pPr algn="ctr">
              <a:lnSpc>
                <a:spcPct val="100000"/>
              </a:lnSpc>
            </a:pPr>
            <a:r>
              <a:rPr sz="2600" b="1">
                <a:solidFill>
                  <a:srgbClr val="10243A"/>
                </a:solidFill>
                <a:latin typeface="Arial Narrow"/>
              </a:rPr>
              <a:t>3</a:t>
            </a:r>
          </a:p>
        </p:txBody>
      </p:sp>
      <p:sp>
        <p:nvSpPr>
          <p:cNvPr id="20" name="TextBox 19"/>
          <p:cNvSpPr txBox="1"/>
          <p:nvPr/>
        </p:nvSpPr>
        <p:spPr>
          <a:xfrm>
            <a:off x="8331200" y="3683000"/>
            <a:ext cx="2743200" cy="825500"/>
          </a:xfrm>
          <a:prstGeom prst="rect">
            <a:avLst/>
          </a:prstGeom>
          <a:noFill/>
        </p:spPr>
        <p:txBody>
          <a:bodyPr wrap="square" lIns="0" rIns="0" tIns="0" bIns="0" anchor="t">
            <a:spAutoFit/>
          </a:bodyPr>
          <a:lstStyle/>
          <a:p>
            <a:pPr algn="l">
              <a:lnSpc>
                <a:spcPct val="95000"/>
              </a:lnSpc>
            </a:pPr>
            <a:r>
              <a:rPr sz="2600" b="1">
                <a:solidFill>
                  <a:srgbClr val="F7F5F0"/>
                </a:solidFill>
                <a:latin typeface="Arial Narrow"/>
              </a:rPr>
              <a:t>UN ESPACIO PARA TODO</a:t>
            </a:r>
          </a:p>
        </p:txBody>
      </p:sp>
      <p:sp>
        <p:nvSpPr>
          <p:cNvPr id="21" name="TextBox 20"/>
          <p:cNvSpPr txBox="1"/>
          <p:nvPr/>
        </p:nvSpPr>
        <p:spPr>
          <a:xfrm>
            <a:off x="8331200" y="4635500"/>
            <a:ext cx="2743200" cy="1016000"/>
          </a:xfrm>
          <a:prstGeom prst="rect">
            <a:avLst/>
          </a:prstGeom>
          <a:noFill/>
        </p:spPr>
        <p:txBody>
          <a:bodyPr wrap="square" lIns="0" rIns="0" tIns="0" bIns="0" anchor="t">
            <a:spAutoFit/>
          </a:bodyPr>
          <a:lstStyle/>
          <a:p>
            <a:pPr algn="l">
              <a:lnSpc>
                <a:spcPct val="105000"/>
              </a:lnSpc>
            </a:pPr>
            <a:r>
              <a:rPr sz="1600" b="0">
                <a:solidFill>
                  <a:srgbClr val="D5E0EC"/>
                </a:solidFill>
                <a:latin typeface="Calibri"/>
              </a:rPr>
              <a:t>No hay un lugar cubierto para el atletismo, ni se pueden separar los usos de forma ordenada.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812800" y="609600"/>
            <a:ext cx="10566400" cy="1206500"/>
          </a:xfrm>
          <a:prstGeom prst="rect">
            <a:avLst/>
          </a:prstGeom>
          <a:noFill/>
        </p:spPr>
        <p:txBody>
          <a:bodyPr wrap="square" lIns="0" rIns="0" tIns="0" bIns="0" anchor="t">
            <a:spAutoFit/>
          </a:bodyPr>
          <a:lstStyle/>
          <a:p>
            <a:pPr algn="l">
              <a:lnSpc>
                <a:spcPct val="95000"/>
              </a:lnSpc>
            </a:pPr>
            <a:r>
              <a:rPr sz="4000" b="1">
                <a:solidFill>
                  <a:srgbClr val="10243A"/>
                </a:solidFill>
                <a:latin typeface="Arial Narrow"/>
              </a:rPr>
              <a:t>DE UN ESPACIO ABIERTO A UN MÓDULO DEPORTIVO COMPLETO</a:t>
            </a:r>
          </a:p>
        </p:txBody>
      </p:sp>
      <p:pic>
        <p:nvPicPr>
          <p:cNvPr id="3" name="Picture 2" descr="antes.jpg"/>
          <p:cNvPicPr>
            <a:picLocks noChangeAspect="1"/>
          </p:cNvPicPr>
          <p:nvPr/>
        </p:nvPicPr>
        <p:blipFill>
          <a:blip r:embed="rId3"/>
          <a:srcRect t="2141" b="2141"/>
          <a:stretch>
            <a:fillRect/>
          </a:stretch>
        </p:blipFill>
        <p:spPr>
          <a:xfrm>
            <a:off x="812800" y="2095500"/>
            <a:ext cx="5156200" cy="3302000"/>
          </a:xfrm>
          <a:prstGeom prst="rect">
            <a:avLst/>
          </a:prstGeom>
        </p:spPr>
      </p:pic>
      <p:pic>
        <p:nvPicPr>
          <p:cNvPr id="4" name="Picture 3" descr="r_int.jpg"/>
          <p:cNvPicPr>
            <a:picLocks noChangeAspect="1"/>
          </p:cNvPicPr>
          <p:nvPr/>
        </p:nvPicPr>
        <p:blipFill>
          <a:blip r:embed="rId4"/>
          <a:srcRect l="7838" r="7838"/>
          <a:stretch>
            <a:fillRect/>
          </a:stretch>
        </p:blipFill>
        <p:spPr>
          <a:xfrm>
            <a:off x="6223000" y="2095500"/>
            <a:ext cx="5156200" cy="3302000"/>
          </a:xfrm>
          <a:prstGeom prst="rect">
            <a:avLst/>
          </a:prstGeom>
        </p:spPr>
      </p:pic>
      <p:sp>
        <p:nvSpPr>
          <p:cNvPr id="5" name="TextBox 4"/>
          <p:cNvSpPr txBox="1"/>
          <p:nvPr/>
        </p:nvSpPr>
        <p:spPr>
          <a:xfrm>
            <a:off x="812800" y="5562600"/>
            <a:ext cx="5156200" cy="254000"/>
          </a:xfrm>
          <a:prstGeom prst="rect">
            <a:avLst/>
          </a:prstGeom>
          <a:noFill/>
        </p:spPr>
        <p:txBody>
          <a:bodyPr wrap="square" lIns="0" rIns="0" tIns="0" bIns="0" anchor="t">
            <a:spAutoFit/>
          </a:bodyPr>
          <a:lstStyle/>
          <a:p>
            <a:pPr algn="l">
              <a:lnSpc>
                <a:spcPct val="100000"/>
              </a:lnSpc>
            </a:pPr>
            <a:r>
              <a:rPr sz="1500" b="1" spc="150">
                <a:solidFill>
                  <a:srgbClr val="3E4C5E"/>
                </a:solidFill>
                <a:latin typeface="Calibri"/>
              </a:rPr>
              <a:t>HOY</a:t>
            </a:r>
          </a:p>
        </p:txBody>
      </p:sp>
      <p:sp>
        <p:nvSpPr>
          <p:cNvPr id="6" name="TextBox 5"/>
          <p:cNvSpPr txBox="1"/>
          <p:nvPr/>
        </p:nvSpPr>
        <p:spPr>
          <a:xfrm>
            <a:off x="6223000" y="5562600"/>
            <a:ext cx="5156200" cy="254000"/>
          </a:xfrm>
          <a:prstGeom prst="rect">
            <a:avLst/>
          </a:prstGeom>
          <a:noFill/>
        </p:spPr>
        <p:txBody>
          <a:bodyPr wrap="square" lIns="0" rIns="0" tIns="0" bIns="0" anchor="t">
            <a:spAutoFit/>
          </a:bodyPr>
          <a:lstStyle/>
          <a:p>
            <a:pPr algn="l">
              <a:lnSpc>
                <a:spcPct val="100000"/>
              </a:lnSpc>
            </a:pPr>
            <a:r>
              <a:rPr sz="1500" b="1" spc="150">
                <a:solidFill>
                  <a:srgbClr val="B95A0C"/>
                </a:solidFill>
                <a:latin typeface="Calibri"/>
              </a:rPr>
              <a:t>EL MÓDULO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43A"/>
        </a:solidFill>
        <a:effectLst/>
      </p:bgPr>
    </p:bg>
    <p:spTree>
      <p:nvGrpSpPr>
        <p:cNvPr id="1" name=""/>
        <p:cNvGrpSpPr/>
        <p:nvPr/>
      </p:nvGrpSpPr>
      <p:grpSpPr/>
      <p:sp>
        <p:nvSpPr>
          <p:cNvPr id="2" name="TextBox 1"/>
          <p:cNvSpPr txBox="1"/>
          <p:nvPr/>
        </p:nvSpPr>
        <p:spPr>
          <a:xfrm>
            <a:off x="812800" y="749300"/>
            <a:ext cx="5080000" cy="228600"/>
          </a:xfrm>
          <a:prstGeom prst="rect">
            <a:avLst/>
          </a:prstGeom>
          <a:noFill/>
        </p:spPr>
        <p:txBody>
          <a:bodyPr wrap="square" lIns="0" rIns="0" tIns="0" bIns="0" anchor="t">
            <a:spAutoFit/>
          </a:bodyPr>
          <a:lstStyle/>
          <a:p>
            <a:pPr algn="l">
              <a:lnSpc>
                <a:spcPct val="100000"/>
              </a:lnSpc>
            </a:pPr>
            <a:r>
              <a:rPr sz="1400" b="1" spc="200">
                <a:solidFill>
                  <a:srgbClr val="F29A4A"/>
                </a:solidFill>
                <a:latin typeface="Calibri"/>
              </a:rPr>
              <a:t>LA RESPUESTA</a:t>
            </a:r>
          </a:p>
        </p:txBody>
      </p:sp>
      <p:sp>
        <p:nvSpPr>
          <p:cNvPr id="3" name="TextBox 2"/>
          <p:cNvSpPr txBox="1"/>
          <p:nvPr/>
        </p:nvSpPr>
        <p:spPr>
          <a:xfrm>
            <a:off x="812800" y="1079500"/>
            <a:ext cx="5080000" cy="3302000"/>
          </a:xfrm>
          <a:prstGeom prst="rect">
            <a:avLst/>
          </a:prstGeom>
          <a:noFill/>
        </p:spPr>
        <p:txBody>
          <a:bodyPr wrap="square" lIns="0" rIns="0" tIns="0" bIns="0" anchor="t">
            <a:spAutoFit/>
          </a:bodyPr>
          <a:lstStyle/>
          <a:p>
            <a:pPr algn="l">
              <a:lnSpc>
                <a:spcPct val="95000"/>
              </a:lnSpc>
            </a:pPr>
            <a:r>
              <a:rPr sz="4400" b="1">
                <a:solidFill>
                  <a:srgbClr val="F7F5F0"/>
                </a:solidFill>
                <a:latin typeface="Arial Narrow"/>
              </a:rPr>
              <a:t>DOS PISTAS Y UN MÓDULO DE ATLETISMO, BAJO UNA MISMA CUBIERTA</a:t>
            </a:r>
          </a:p>
        </p:txBody>
      </p:sp>
      <p:sp>
        <p:nvSpPr>
          <p:cNvPr id="4" name="Rounded Rectangle 3"/>
          <p:cNvSpPr/>
          <p:nvPr/>
        </p:nvSpPr>
        <p:spPr>
          <a:xfrm>
            <a:off x="812800" y="4572000"/>
            <a:ext cx="2667000" cy="419100"/>
          </a:xfrm>
          <a:prstGeom prst="roundRect">
            <a:avLst>
              <a:gd name="adj" fmla="val 18181"/>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4572000"/>
            <a:ext cx="2667000" cy="419100"/>
          </a:xfrm>
          <a:prstGeom prst="rect">
            <a:avLst/>
          </a:prstGeom>
          <a:noFill/>
        </p:spPr>
        <p:txBody>
          <a:bodyPr wrap="square" lIns="0" rIns="0" tIns="0" bIns="0" anchor="ctr">
            <a:spAutoFit/>
          </a:bodyPr>
          <a:lstStyle/>
          <a:p>
            <a:pPr algn="ctr">
              <a:lnSpc>
                <a:spcPct val="100000"/>
              </a:lnSpc>
            </a:pPr>
            <a:r>
              <a:rPr sz="1700" b="1">
                <a:solidFill>
                  <a:srgbClr val="10243A"/>
                </a:solidFill>
                <a:latin typeface="Calibri"/>
              </a:rPr>
              <a:t>2 pistas multideporte</a:t>
            </a:r>
          </a:p>
        </p:txBody>
      </p:sp>
      <p:sp>
        <p:nvSpPr>
          <p:cNvPr id="6" name="Rounded Rectangle 5"/>
          <p:cNvSpPr/>
          <p:nvPr/>
        </p:nvSpPr>
        <p:spPr>
          <a:xfrm>
            <a:off x="812800" y="5092700"/>
            <a:ext cx="3556000" cy="419100"/>
          </a:xfrm>
          <a:prstGeom prst="roundRect">
            <a:avLst>
              <a:gd name="adj" fmla="val 18181"/>
            </a:avLst>
          </a:prstGeom>
          <a:solidFill>
            <a:srgbClr val="0E9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5092700"/>
            <a:ext cx="3556000" cy="419100"/>
          </a:xfrm>
          <a:prstGeom prst="rect">
            <a:avLst/>
          </a:prstGeom>
          <a:noFill/>
        </p:spPr>
        <p:txBody>
          <a:bodyPr wrap="square" lIns="0" rIns="0" tIns="0" bIns="0" anchor="ctr">
            <a:spAutoFit/>
          </a:bodyPr>
          <a:lstStyle/>
          <a:p>
            <a:pPr algn="ctr">
              <a:lnSpc>
                <a:spcPct val="100000"/>
              </a:lnSpc>
            </a:pPr>
            <a:r>
              <a:rPr sz="1700" b="1">
                <a:solidFill>
                  <a:srgbClr val="F7F5F0"/>
                </a:solidFill>
                <a:latin typeface="Calibri"/>
              </a:rPr>
              <a:t>1 módulo de atletismo cubierto</a:t>
            </a:r>
          </a:p>
        </p:txBody>
      </p:sp>
      <p:sp>
        <p:nvSpPr>
          <p:cNvPr id="8" name="Rounded Rectangle 7"/>
          <p:cNvSpPr/>
          <p:nvPr/>
        </p:nvSpPr>
        <p:spPr>
          <a:xfrm>
            <a:off x="812800" y="5613400"/>
            <a:ext cx="3302000" cy="419100"/>
          </a:xfrm>
          <a:prstGeom prst="roundRect">
            <a:avLst>
              <a:gd name="adj" fmla="val 18181"/>
            </a:avLst>
          </a:prstGeom>
          <a:solidFill>
            <a:srgbClr val="7EC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5613400"/>
            <a:ext cx="3302000" cy="419100"/>
          </a:xfrm>
          <a:prstGeom prst="rect">
            <a:avLst/>
          </a:prstGeom>
          <a:noFill/>
        </p:spPr>
        <p:txBody>
          <a:bodyPr wrap="square" lIns="0" rIns="0" tIns="0" bIns="0" anchor="ctr">
            <a:spAutoFit/>
          </a:bodyPr>
          <a:lstStyle/>
          <a:p>
            <a:pPr algn="ctr">
              <a:lnSpc>
                <a:spcPct val="100000"/>
              </a:lnSpc>
            </a:pPr>
            <a:r>
              <a:rPr sz="1700" b="1">
                <a:solidFill>
                  <a:srgbClr val="10243A"/>
                </a:solidFill>
                <a:latin typeface="Calibri"/>
              </a:rPr>
              <a:t>1 nave renovada y protegida</a:t>
            </a:r>
          </a:p>
        </p:txBody>
      </p:sp>
      <p:pic>
        <p:nvPicPr>
          <p:cNvPr id="10" name="Picture 9" descr="r_atl2.jpg"/>
          <p:cNvPicPr>
            <a:picLocks noChangeAspect="1"/>
          </p:cNvPicPr>
          <p:nvPr/>
        </p:nvPicPr>
        <p:blipFill>
          <a:blip r:embed="rId3"/>
          <a:srcRect l="18371" r="18371"/>
          <a:stretch>
            <a:fillRect/>
          </a:stretch>
        </p:blipFill>
        <p:spPr>
          <a:xfrm>
            <a:off x="6350000" y="1206500"/>
            <a:ext cx="5207000" cy="4445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pic>
        <p:nvPicPr>
          <p:cNvPr id="2" name="Picture 1" descr="r_planta.jpg"/>
          <p:cNvPicPr>
            <a:picLocks noChangeAspect="1"/>
          </p:cNvPicPr>
          <p:nvPr/>
        </p:nvPicPr>
        <p:blipFill>
          <a:blip r:embed="rId3"/>
          <a:srcRect l="42" r="42"/>
          <a:stretch>
            <a:fillRect/>
          </a:stretch>
        </p:blipFill>
        <p:spPr>
          <a:xfrm>
            <a:off x="1524000" y="1714500"/>
            <a:ext cx="9144000" cy="4572000"/>
          </a:xfrm>
          <a:prstGeom prst="rect">
            <a:avLst/>
          </a:prstGeom>
        </p:spPr>
      </p:pic>
      <p:sp>
        <p:nvSpPr>
          <p:cNvPr id="3" name="TextBox 2"/>
          <p:cNvSpPr txBox="1"/>
          <p:nvPr/>
        </p:nvSpPr>
        <p:spPr>
          <a:xfrm>
            <a:off x="812800" y="508000"/>
            <a:ext cx="10566400" cy="635000"/>
          </a:xfrm>
          <a:prstGeom prst="rect">
            <a:avLst/>
          </a:prstGeom>
          <a:noFill/>
        </p:spPr>
        <p:txBody>
          <a:bodyPr wrap="square" lIns="0" rIns="0" tIns="0" bIns="0" anchor="t">
            <a:spAutoFit/>
          </a:bodyPr>
          <a:lstStyle/>
          <a:p>
            <a:pPr algn="l">
              <a:lnSpc>
                <a:spcPct val="100000"/>
              </a:lnSpc>
            </a:pPr>
            <a:r>
              <a:rPr sz="4000" b="1">
                <a:solidFill>
                  <a:srgbClr val="10243A"/>
                </a:solidFill>
                <a:latin typeface="Arial Narrow"/>
              </a:rPr>
              <a:t>TODO EN UN VISTAZO</a:t>
            </a:r>
          </a:p>
        </p:txBody>
      </p:sp>
      <p:sp>
        <p:nvSpPr>
          <p:cNvPr id="4" name="Oval 3"/>
          <p:cNvSpPr/>
          <p:nvPr/>
        </p:nvSpPr>
        <p:spPr>
          <a:xfrm>
            <a:off x="812800" y="1244600"/>
            <a:ext cx="279400" cy="279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244600"/>
            <a:ext cx="279400" cy="279400"/>
          </a:xfrm>
          <a:prstGeom prst="rect">
            <a:avLst/>
          </a:prstGeom>
          <a:noFill/>
        </p:spPr>
        <p:txBody>
          <a:bodyPr wrap="square" lIns="0" rIns="0" tIns="0" bIns="0" anchor="ctr">
            <a:spAutoFit/>
          </a:bodyPr>
          <a:lstStyle/>
          <a:p>
            <a:pPr algn="ctr">
              <a:lnSpc>
                <a:spcPct val="100000"/>
              </a:lnSpc>
            </a:pPr>
            <a:r>
              <a:rPr sz="1400" b="1">
                <a:solidFill>
                  <a:srgbClr val="10243A"/>
                </a:solidFill>
                <a:latin typeface="Arial Narrow"/>
              </a:rPr>
              <a:t>1</a:t>
            </a:r>
          </a:p>
        </p:txBody>
      </p:sp>
      <p:sp>
        <p:nvSpPr>
          <p:cNvPr id="6" name="TextBox 5"/>
          <p:cNvSpPr txBox="1"/>
          <p:nvPr/>
        </p:nvSpPr>
        <p:spPr>
          <a:xfrm>
            <a:off x="1193800" y="1244600"/>
            <a:ext cx="2413000" cy="279400"/>
          </a:xfrm>
          <a:prstGeom prst="rect">
            <a:avLst/>
          </a:prstGeom>
          <a:noFill/>
        </p:spPr>
        <p:txBody>
          <a:bodyPr wrap="square" lIns="0" rIns="0" tIns="0" bIns="0" anchor="ctr">
            <a:spAutoFit/>
          </a:bodyPr>
          <a:lstStyle/>
          <a:p>
            <a:pPr algn="l">
              <a:lnSpc>
                <a:spcPct val="100000"/>
              </a:lnSpc>
            </a:pPr>
            <a:r>
              <a:rPr sz="1400" b="1">
                <a:solidFill>
                  <a:srgbClr val="10243A"/>
                </a:solidFill>
                <a:latin typeface="Calibri"/>
              </a:rPr>
              <a:t>Atletismo · 8 calles</a:t>
            </a:r>
          </a:p>
        </p:txBody>
      </p:sp>
      <p:sp>
        <p:nvSpPr>
          <p:cNvPr id="7" name="Oval 6"/>
          <p:cNvSpPr/>
          <p:nvPr/>
        </p:nvSpPr>
        <p:spPr>
          <a:xfrm>
            <a:off x="3810000" y="1244600"/>
            <a:ext cx="279400" cy="279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0000" y="1244600"/>
            <a:ext cx="279400" cy="279400"/>
          </a:xfrm>
          <a:prstGeom prst="rect">
            <a:avLst/>
          </a:prstGeom>
          <a:noFill/>
        </p:spPr>
        <p:txBody>
          <a:bodyPr wrap="square" lIns="0" rIns="0" tIns="0" bIns="0" anchor="ctr">
            <a:spAutoFit/>
          </a:bodyPr>
          <a:lstStyle/>
          <a:p>
            <a:pPr algn="ctr">
              <a:lnSpc>
                <a:spcPct val="100000"/>
              </a:lnSpc>
            </a:pPr>
            <a:r>
              <a:rPr sz="1400" b="1">
                <a:solidFill>
                  <a:srgbClr val="10243A"/>
                </a:solidFill>
                <a:latin typeface="Arial Narrow"/>
              </a:rPr>
              <a:t>2</a:t>
            </a:r>
          </a:p>
        </p:txBody>
      </p:sp>
      <p:sp>
        <p:nvSpPr>
          <p:cNvPr id="9" name="TextBox 8"/>
          <p:cNvSpPr txBox="1"/>
          <p:nvPr/>
        </p:nvSpPr>
        <p:spPr>
          <a:xfrm>
            <a:off x="4191000" y="1244600"/>
            <a:ext cx="1905000" cy="279400"/>
          </a:xfrm>
          <a:prstGeom prst="rect">
            <a:avLst/>
          </a:prstGeom>
          <a:noFill/>
        </p:spPr>
        <p:txBody>
          <a:bodyPr wrap="square" lIns="0" rIns="0" tIns="0" bIns="0" anchor="ctr">
            <a:spAutoFit/>
          </a:bodyPr>
          <a:lstStyle/>
          <a:p>
            <a:pPr algn="l">
              <a:lnSpc>
                <a:spcPct val="100000"/>
              </a:lnSpc>
            </a:pPr>
            <a:r>
              <a:rPr sz="1400" b="1">
                <a:solidFill>
                  <a:srgbClr val="10243A"/>
                </a:solidFill>
                <a:latin typeface="Calibri"/>
              </a:rPr>
              <a:t>Zonas de salto</a:t>
            </a:r>
          </a:p>
        </p:txBody>
      </p:sp>
      <p:sp>
        <p:nvSpPr>
          <p:cNvPr id="10" name="Oval 9"/>
          <p:cNvSpPr/>
          <p:nvPr/>
        </p:nvSpPr>
        <p:spPr>
          <a:xfrm>
            <a:off x="6299200" y="1244600"/>
            <a:ext cx="279400" cy="279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9200" y="1244600"/>
            <a:ext cx="279400" cy="279400"/>
          </a:xfrm>
          <a:prstGeom prst="rect">
            <a:avLst/>
          </a:prstGeom>
          <a:noFill/>
        </p:spPr>
        <p:txBody>
          <a:bodyPr wrap="square" lIns="0" rIns="0" tIns="0" bIns="0" anchor="ctr">
            <a:spAutoFit/>
          </a:bodyPr>
          <a:lstStyle/>
          <a:p>
            <a:pPr algn="ctr">
              <a:lnSpc>
                <a:spcPct val="100000"/>
              </a:lnSpc>
            </a:pPr>
            <a:r>
              <a:rPr sz="1400" b="1">
                <a:solidFill>
                  <a:srgbClr val="10243A"/>
                </a:solidFill>
                <a:latin typeface="Arial Narrow"/>
              </a:rPr>
              <a:t>3</a:t>
            </a:r>
          </a:p>
        </p:txBody>
      </p:sp>
      <p:sp>
        <p:nvSpPr>
          <p:cNvPr id="12" name="TextBox 11"/>
          <p:cNvSpPr txBox="1"/>
          <p:nvPr/>
        </p:nvSpPr>
        <p:spPr>
          <a:xfrm>
            <a:off x="6680200" y="1244600"/>
            <a:ext cx="2413000" cy="279400"/>
          </a:xfrm>
          <a:prstGeom prst="rect">
            <a:avLst/>
          </a:prstGeom>
          <a:noFill/>
        </p:spPr>
        <p:txBody>
          <a:bodyPr wrap="square" lIns="0" rIns="0" tIns="0" bIns="0" anchor="ctr">
            <a:spAutoFit/>
          </a:bodyPr>
          <a:lstStyle/>
          <a:p>
            <a:pPr algn="l">
              <a:lnSpc>
                <a:spcPct val="100000"/>
              </a:lnSpc>
            </a:pPr>
            <a:r>
              <a:rPr sz="1400" b="1">
                <a:solidFill>
                  <a:srgbClr val="10243A"/>
                </a:solidFill>
                <a:latin typeface="Calibri"/>
              </a:rPr>
              <a:t>Pista multideporte 1</a:t>
            </a:r>
          </a:p>
        </p:txBody>
      </p:sp>
      <p:sp>
        <p:nvSpPr>
          <p:cNvPr id="13" name="Oval 12"/>
          <p:cNvSpPr/>
          <p:nvPr/>
        </p:nvSpPr>
        <p:spPr>
          <a:xfrm>
            <a:off x="9296400" y="1244600"/>
            <a:ext cx="279400" cy="279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96400" y="1244600"/>
            <a:ext cx="279400" cy="279400"/>
          </a:xfrm>
          <a:prstGeom prst="rect">
            <a:avLst/>
          </a:prstGeom>
          <a:noFill/>
        </p:spPr>
        <p:txBody>
          <a:bodyPr wrap="square" lIns="0" rIns="0" tIns="0" bIns="0" anchor="ctr">
            <a:spAutoFit/>
          </a:bodyPr>
          <a:lstStyle/>
          <a:p>
            <a:pPr algn="ctr">
              <a:lnSpc>
                <a:spcPct val="100000"/>
              </a:lnSpc>
            </a:pPr>
            <a:r>
              <a:rPr sz="1400" b="1">
                <a:solidFill>
                  <a:srgbClr val="10243A"/>
                </a:solidFill>
                <a:latin typeface="Arial Narrow"/>
              </a:rPr>
              <a:t>4</a:t>
            </a:r>
          </a:p>
        </p:txBody>
      </p:sp>
      <p:sp>
        <p:nvSpPr>
          <p:cNvPr id="15" name="TextBox 14"/>
          <p:cNvSpPr txBox="1"/>
          <p:nvPr/>
        </p:nvSpPr>
        <p:spPr>
          <a:xfrm>
            <a:off x="9677400" y="1244600"/>
            <a:ext cx="2413000" cy="279400"/>
          </a:xfrm>
          <a:prstGeom prst="rect">
            <a:avLst/>
          </a:prstGeom>
          <a:noFill/>
        </p:spPr>
        <p:txBody>
          <a:bodyPr wrap="square" lIns="0" rIns="0" tIns="0" bIns="0" anchor="ctr">
            <a:spAutoFit/>
          </a:bodyPr>
          <a:lstStyle/>
          <a:p>
            <a:pPr algn="l">
              <a:lnSpc>
                <a:spcPct val="100000"/>
              </a:lnSpc>
            </a:pPr>
            <a:r>
              <a:rPr sz="1400" b="1">
                <a:solidFill>
                  <a:srgbClr val="10243A"/>
                </a:solidFill>
                <a:latin typeface="Calibri"/>
              </a:rPr>
              <a:t>Pista multideporte 2</a:t>
            </a:r>
          </a:p>
        </p:txBody>
      </p:sp>
      <p:sp>
        <p:nvSpPr>
          <p:cNvPr id="16" name="Oval 15"/>
          <p:cNvSpPr/>
          <p:nvPr/>
        </p:nvSpPr>
        <p:spPr>
          <a:xfrm>
            <a:off x="6946900" y="2743200"/>
            <a:ext cx="406400" cy="406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6900" y="2743200"/>
            <a:ext cx="406400" cy="406400"/>
          </a:xfrm>
          <a:prstGeom prst="rect">
            <a:avLst/>
          </a:prstGeom>
          <a:noFill/>
        </p:spPr>
        <p:txBody>
          <a:bodyPr wrap="square" lIns="0" rIns="0" tIns="0" bIns="0" anchor="ctr">
            <a:spAutoFit/>
          </a:bodyPr>
          <a:lstStyle/>
          <a:p>
            <a:pPr algn="ctr">
              <a:lnSpc>
                <a:spcPct val="100000"/>
              </a:lnSpc>
            </a:pPr>
            <a:r>
              <a:rPr sz="1800" b="1">
                <a:solidFill>
                  <a:srgbClr val="10243A"/>
                </a:solidFill>
                <a:latin typeface="Arial Narrow"/>
              </a:rPr>
              <a:t>1</a:t>
            </a:r>
          </a:p>
        </p:txBody>
      </p:sp>
      <p:sp>
        <p:nvSpPr>
          <p:cNvPr id="18" name="Oval 17"/>
          <p:cNvSpPr/>
          <p:nvPr/>
        </p:nvSpPr>
        <p:spPr>
          <a:xfrm>
            <a:off x="6350000" y="3429000"/>
            <a:ext cx="406400" cy="406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0000" y="3429000"/>
            <a:ext cx="406400" cy="406400"/>
          </a:xfrm>
          <a:prstGeom prst="rect">
            <a:avLst/>
          </a:prstGeom>
          <a:noFill/>
        </p:spPr>
        <p:txBody>
          <a:bodyPr wrap="square" lIns="0" rIns="0" tIns="0" bIns="0" anchor="ctr">
            <a:spAutoFit/>
          </a:bodyPr>
          <a:lstStyle/>
          <a:p>
            <a:pPr algn="ctr">
              <a:lnSpc>
                <a:spcPct val="100000"/>
              </a:lnSpc>
            </a:pPr>
            <a:r>
              <a:rPr sz="1800" b="1">
                <a:solidFill>
                  <a:srgbClr val="10243A"/>
                </a:solidFill>
                <a:latin typeface="Arial Narrow"/>
              </a:rPr>
              <a:t>2</a:t>
            </a:r>
          </a:p>
        </p:txBody>
      </p:sp>
      <p:sp>
        <p:nvSpPr>
          <p:cNvPr id="20" name="Oval 19"/>
          <p:cNvSpPr/>
          <p:nvPr/>
        </p:nvSpPr>
        <p:spPr>
          <a:xfrm>
            <a:off x="4152900" y="4483100"/>
            <a:ext cx="406400" cy="406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52900" y="4483100"/>
            <a:ext cx="406400" cy="406400"/>
          </a:xfrm>
          <a:prstGeom prst="rect">
            <a:avLst/>
          </a:prstGeom>
          <a:noFill/>
        </p:spPr>
        <p:txBody>
          <a:bodyPr wrap="square" lIns="0" rIns="0" tIns="0" bIns="0" anchor="ctr">
            <a:spAutoFit/>
          </a:bodyPr>
          <a:lstStyle/>
          <a:p>
            <a:pPr algn="ctr">
              <a:lnSpc>
                <a:spcPct val="100000"/>
              </a:lnSpc>
            </a:pPr>
            <a:r>
              <a:rPr sz="1800" b="1">
                <a:solidFill>
                  <a:srgbClr val="10243A"/>
                </a:solidFill>
                <a:latin typeface="Arial Narrow"/>
              </a:rPr>
              <a:t>3</a:t>
            </a:r>
          </a:p>
        </p:txBody>
      </p:sp>
      <p:sp>
        <p:nvSpPr>
          <p:cNvPr id="22" name="Oval 21"/>
          <p:cNvSpPr/>
          <p:nvPr/>
        </p:nvSpPr>
        <p:spPr>
          <a:xfrm>
            <a:off x="7632700" y="4483100"/>
            <a:ext cx="406400" cy="4064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32700" y="4483100"/>
            <a:ext cx="406400" cy="406400"/>
          </a:xfrm>
          <a:prstGeom prst="rect">
            <a:avLst/>
          </a:prstGeom>
          <a:noFill/>
        </p:spPr>
        <p:txBody>
          <a:bodyPr wrap="square" lIns="0" rIns="0" tIns="0" bIns="0" anchor="ctr">
            <a:spAutoFit/>
          </a:bodyPr>
          <a:lstStyle/>
          <a:p>
            <a:pPr algn="ctr">
              <a:lnSpc>
                <a:spcPct val="100000"/>
              </a:lnSpc>
            </a:pPr>
            <a:r>
              <a:rPr sz="1800" b="1">
                <a:solidFill>
                  <a:srgbClr val="10243A"/>
                </a:solidFill>
                <a:latin typeface="Arial Narrow"/>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43A"/>
        </a:solidFill>
        <a:effectLst/>
      </p:bgPr>
    </p:bg>
    <p:spTree>
      <p:nvGrpSpPr>
        <p:cNvPr id="1" name=""/>
        <p:cNvGrpSpPr/>
        <p:nvPr/>
      </p:nvGrpSpPr>
      <p:grpSpPr/>
      <p:pic>
        <p:nvPicPr>
          <p:cNvPr id="2" name="Picture 1" descr="r_atl.jpg"/>
          <p:cNvPicPr>
            <a:picLocks noChangeAspect="1"/>
          </p:cNvPicPr>
          <p:nvPr/>
        </p:nvPicPr>
        <p:blipFill>
          <a:blip r:embed="rId3"/>
          <a:srcRect l="2000" r="2000"/>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10243A">
                  <a:alpha val="90000"/>
                </a:srgbClr>
              </a:gs>
              <a:gs pos="38000">
                <a:srgbClr val="10243A">
                  <a:alpha val="25000"/>
                </a:srgbClr>
              </a:gs>
              <a:gs pos="60000">
                <a:srgbClr val="10243A">
                  <a:alpha val="35000"/>
                </a:srgbClr>
              </a:gs>
              <a:gs pos="100000">
                <a:srgbClr val="10243A">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609600"/>
            <a:ext cx="6350000" cy="228600"/>
          </a:xfrm>
          <a:prstGeom prst="rect">
            <a:avLst/>
          </a:prstGeom>
          <a:noFill/>
        </p:spPr>
        <p:txBody>
          <a:bodyPr wrap="square" lIns="0" rIns="0" tIns="0" bIns="0" anchor="t">
            <a:spAutoFit/>
          </a:bodyPr>
          <a:lstStyle/>
          <a:p>
            <a:pPr algn="l">
              <a:lnSpc>
                <a:spcPct val="100000"/>
              </a:lnSpc>
            </a:pPr>
            <a:r>
              <a:rPr sz="1400" b="1" spc="200">
                <a:solidFill>
                  <a:srgbClr val="F29A4A"/>
                </a:solidFill>
                <a:latin typeface="Calibri"/>
              </a:rPr>
              <a:t>EL MÓDULO DE ATLETISMO</a:t>
            </a:r>
          </a:p>
        </p:txBody>
      </p:sp>
      <p:sp>
        <p:nvSpPr>
          <p:cNvPr id="5" name="TextBox 4"/>
          <p:cNvSpPr txBox="1"/>
          <p:nvPr/>
        </p:nvSpPr>
        <p:spPr>
          <a:xfrm>
            <a:off x="812800" y="914400"/>
            <a:ext cx="8890000" cy="1587500"/>
          </a:xfrm>
          <a:prstGeom prst="rect">
            <a:avLst/>
          </a:prstGeom>
          <a:noFill/>
        </p:spPr>
        <p:txBody>
          <a:bodyPr wrap="square" lIns="0" rIns="0" tIns="0" bIns="0" anchor="t">
            <a:spAutoFit/>
          </a:bodyPr>
          <a:lstStyle/>
          <a:p>
            <a:pPr algn="l">
              <a:lnSpc>
                <a:spcPct val="95000"/>
              </a:lnSpc>
            </a:pPr>
            <a:r>
              <a:rPr sz="5200" b="1">
                <a:solidFill>
                  <a:srgbClr val="F7F5F0"/>
                </a:solidFill>
                <a:latin typeface="Arial Narrow"/>
              </a:rPr>
              <a:t>ATLETISMO DE VERDAD, BAJO CUBIERTA</a:t>
            </a:r>
          </a:p>
        </p:txBody>
      </p:sp>
      <p:sp>
        <p:nvSpPr>
          <p:cNvPr id="6" name="Rectangle 5"/>
          <p:cNvSpPr/>
          <p:nvPr/>
        </p:nvSpPr>
        <p:spPr>
          <a:xfrm>
            <a:off x="812800" y="4064000"/>
            <a:ext cx="2413000" cy="38100"/>
          </a:xfrm>
          <a:prstGeom prst="rect">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4216400"/>
            <a:ext cx="2413000" cy="889000"/>
          </a:xfrm>
          <a:prstGeom prst="rect">
            <a:avLst/>
          </a:prstGeom>
          <a:noFill/>
        </p:spPr>
        <p:txBody>
          <a:bodyPr wrap="square" lIns="0" rIns="0" tIns="0" bIns="0" anchor="t">
            <a:spAutoFit/>
          </a:bodyPr>
          <a:lstStyle/>
          <a:p>
            <a:pPr algn="l">
              <a:lnSpc>
                <a:spcPct val="90000"/>
              </a:lnSpc>
            </a:pPr>
            <a:r>
              <a:rPr sz="6400" b="1">
                <a:solidFill>
                  <a:srgbClr val="F7F5F0"/>
                </a:solidFill>
                <a:latin typeface="Arial Narrow"/>
              </a:rPr>
              <a:t>8</a:t>
            </a:r>
          </a:p>
        </p:txBody>
      </p:sp>
      <p:sp>
        <p:nvSpPr>
          <p:cNvPr id="8" name="TextBox 7"/>
          <p:cNvSpPr txBox="1"/>
          <p:nvPr/>
        </p:nvSpPr>
        <p:spPr>
          <a:xfrm>
            <a:off x="812800" y="5143500"/>
            <a:ext cx="2413000" cy="762000"/>
          </a:xfrm>
          <a:prstGeom prst="rect">
            <a:avLst/>
          </a:prstGeom>
          <a:noFill/>
        </p:spPr>
        <p:txBody>
          <a:bodyPr wrap="square" lIns="0" rIns="0" tIns="0" bIns="0" anchor="t">
            <a:spAutoFit/>
          </a:bodyPr>
          <a:lstStyle/>
          <a:p>
            <a:pPr algn="l">
              <a:lnSpc>
                <a:spcPct val="105000"/>
              </a:lnSpc>
            </a:pPr>
            <a:r>
              <a:rPr sz="1600" b="0">
                <a:solidFill>
                  <a:srgbClr val="E3EAF2"/>
                </a:solidFill>
                <a:latin typeface="Calibri"/>
              </a:rPr>
              <a:t>calles de velocidad</a:t>
            </a:r>
          </a:p>
        </p:txBody>
      </p:sp>
      <p:sp>
        <p:nvSpPr>
          <p:cNvPr id="9" name="Rectangle 8"/>
          <p:cNvSpPr/>
          <p:nvPr/>
        </p:nvSpPr>
        <p:spPr>
          <a:xfrm>
            <a:off x="3530600" y="4064000"/>
            <a:ext cx="2413000" cy="38100"/>
          </a:xfrm>
          <a:prstGeom prst="rect">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0600" y="4216400"/>
            <a:ext cx="2413000" cy="889000"/>
          </a:xfrm>
          <a:prstGeom prst="rect">
            <a:avLst/>
          </a:prstGeom>
          <a:noFill/>
        </p:spPr>
        <p:txBody>
          <a:bodyPr wrap="square" lIns="0" rIns="0" tIns="0" bIns="0" anchor="t">
            <a:spAutoFit/>
          </a:bodyPr>
          <a:lstStyle/>
          <a:p>
            <a:pPr algn="l">
              <a:lnSpc>
                <a:spcPct val="90000"/>
              </a:lnSpc>
            </a:pPr>
            <a:r>
              <a:rPr sz="6400" b="1">
                <a:solidFill>
                  <a:srgbClr val="F7F5F0"/>
                </a:solidFill>
                <a:latin typeface="Arial Narrow"/>
              </a:rPr>
              <a:t>60 m</a:t>
            </a:r>
          </a:p>
        </p:txBody>
      </p:sp>
      <p:sp>
        <p:nvSpPr>
          <p:cNvPr id="11" name="TextBox 10"/>
          <p:cNvSpPr txBox="1"/>
          <p:nvPr/>
        </p:nvSpPr>
        <p:spPr>
          <a:xfrm>
            <a:off x="3530600" y="5143500"/>
            <a:ext cx="2413000" cy="762000"/>
          </a:xfrm>
          <a:prstGeom prst="rect">
            <a:avLst/>
          </a:prstGeom>
          <a:noFill/>
        </p:spPr>
        <p:txBody>
          <a:bodyPr wrap="square" lIns="0" rIns="0" tIns="0" bIns="0" anchor="t">
            <a:spAutoFit/>
          </a:bodyPr>
          <a:lstStyle/>
          <a:p>
            <a:pPr algn="l">
              <a:lnSpc>
                <a:spcPct val="105000"/>
              </a:lnSpc>
            </a:pPr>
            <a:r>
              <a:rPr sz="1600" b="0">
                <a:solidFill>
                  <a:srgbClr val="E3EAF2"/>
                </a:solidFill>
                <a:latin typeface="Calibri"/>
              </a:rPr>
              <a:t>de recta para trabajar la velocidad</a:t>
            </a:r>
          </a:p>
        </p:txBody>
      </p:sp>
      <p:sp>
        <p:nvSpPr>
          <p:cNvPr id="12" name="Rectangle 11"/>
          <p:cNvSpPr/>
          <p:nvPr/>
        </p:nvSpPr>
        <p:spPr>
          <a:xfrm>
            <a:off x="6248400" y="4064000"/>
            <a:ext cx="2413000" cy="38100"/>
          </a:xfrm>
          <a:prstGeom prst="rect">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8400" y="4216400"/>
            <a:ext cx="2413000" cy="889000"/>
          </a:xfrm>
          <a:prstGeom prst="rect">
            <a:avLst/>
          </a:prstGeom>
          <a:noFill/>
        </p:spPr>
        <p:txBody>
          <a:bodyPr wrap="square" lIns="0" rIns="0" tIns="0" bIns="0" anchor="t">
            <a:spAutoFit/>
          </a:bodyPr>
          <a:lstStyle/>
          <a:p>
            <a:pPr algn="l">
              <a:lnSpc>
                <a:spcPct val="90000"/>
              </a:lnSpc>
            </a:pPr>
            <a:r>
              <a:rPr sz="6400" b="1">
                <a:solidFill>
                  <a:srgbClr val="F7F5F0"/>
                </a:solidFill>
                <a:latin typeface="Arial Narrow"/>
              </a:rPr>
              <a:t>4</a:t>
            </a:r>
          </a:p>
        </p:txBody>
      </p:sp>
      <p:sp>
        <p:nvSpPr>
          <p:cNvPr id="14" name="TextBox 13"/>
          <p:cNvSpPr txBox="1"/>
          <p:nvPr/>
        </p:nvSpPr>
        <p:spPr>
          <a:xfrm>
            <a:off x="6248400" y="5143500"/>
            <a:ext cx="2413000" cy="762000"/>
          </a:xfrm>
          <a:prstGeom prst="rect">
            <a:avLst/>
          </a:prstGeom>
          <a:noFill/>
        </p:spPr>
        <p:txBody>
          <a:bodyPr wrap="square" lIns="0" rIns="0" tIns="0" bIns="0" anchor="t">
            <a:spAutoFit/>
          </a:bodyPr>
          <a:lstStyle/>
          <a:p>
            <a:pPr algn="l">
              <a:lnSpc>
                <a:spcPct val="105000"/>
              </a:lnSpc>
            </a:pPr>
            <a:r>
              <a:rPr sz="1600" b="0">
                <a:solidFill>
                  <a:srgbClr val="E3EAF2"/>
                </a:solidFill>
                <a:latin typeface="Calibri"/>
              </a:rPr>
              <a:t>zonas de salto: altura, longitud, triple y pértiga</a:t>
            </a:r>
          </a:p>
        </p:txBody>
      </p:sp>
      <p:sp>
        <p:nvSpPr>
          <p:cNvPr id="15" name="Rectangle 14"/>
          <p:cNvSpPr/>
          <p:nvPr/>
        </p:nvSpPr>
        <p:spPr>
          <a:xfrm>
            <a:off x="8966200" y="4064000"/>
            <a:ext cx="2413000" cy="38100"/>
          </a:xfrm>
          <a:prstGeom prst="rect">
            <a:avLst/>
          </a:prstGeom>
          <a:solidFill>
            <a:srgbClr val="0E9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6200" y="4216400"/>
            <a:ext cx="2413000" cy="889000"/>
          </a:xfrm>
          <a:prstGeom prst="rect">
            <a:avLst/>
          </a:prstGeom>
          <a:noFill/>
        </p:spPr>
        <p:txBody>
          <a:bodyPr wrap="square" lIns="0" rIns="0" tIns="0" bIns="0" anchor="t">
            <a:spAutoFit/>
          </a:bodyPr>
          <a:lstStyle/>
          <a:p>
            <a:pPr algn="l">
              <a:lnSpc>
                <a:spcPct val="90000"/>
              </a:lnSpc>
            </a:pPr>
            <a:r>
              <a:rPr sz="6400" b="1">
                <a:solidFill>
                  <a:srgbClr val="F7F5F0"/>
                </a:solidFill>
                <a:latin typeface="Arial Narrow"/>
              </a:rPr>
              <a:t>RFEA</a:t>
            </a:r>
          </a:p>
        </p:txBody>
      </p:sp>
      <p:sp>
        <p:nvSpPr>
          <p:cNvPr id="17" name="TextBox 16"/>
          <p:cNvSpPr txBox="1"/>
          <p:nvPr/>
        </p:nvSpPr>
        <p:spPr>
          <a:xfrm>
            <a:off x="8966200" y="5143500"/>
            <a:ext cx="2413000" cy="762000"/>
          </a:xfrm>
          <a:prstGeom prst="rect">
            <a:avLst/>
          </a:prstGeom>
          <a:noFill/>
        </p:spPr>
        <p:txBody>
          <a:bodyPr wrap="square" lIns="0" rIns="0" tIns="0" bIns="0" anchor="t">
            <a:spAutoFit/>
          </a:bodyPr>
          <a:lstStyle/>
          <a:p>
            <a:pPr algn="l">
              <a:lnSpc>
                <a:spcPct val="105000"/>
              </a:lnSpc>
            </a:pPr>
            <a:r>
              <a:rPr sz="1600" b="0">
                <a:solidFill>
                  <a:srgbClr val="E3EAF2"/>
                </a:solidFill>
                <a:latin typeface="Calibri"/>
              </a:rPr>
              <a:t>módulo homologado por la federación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812800" y="1358900"/>
            <a:ext cx="4572000" cy="228600"/>
          </a:xfrm>
          <a:prstGeom prst="rect">
            <a:avLst/>
          </a:prstGeom>
          <a:noFill/>
        </p:spPr>
        <p:txBody>
          <a:bodyPr wrap="square" lIns="0" rIns="0" tIns="0" bIns="0" anchor="t">
            <a:spAutoFit/>
          </a:bodyPr>
          <a:lstStyle/>
          <a:p>
            <a:pPr algn="l">
              <a:lnSpc>
                <a:spcPct val="100000"/>
              </a:lnSpc>
            </a:pPr>
            <a:r>
              <a:rPr sz="1400" b="1" spc="200">
                <a:solidFill>
                  <a:srgbClr val="B95A0C"/>
                </a:solidFill>
                <a:latin typeface="Calibri"/>
              </a:rPr>
              <a:t>DOS PISTAS MULTIDEPORTE</a:t>
            </a:r>
          </a:p>
        </p:txBody>
      </p:sp>
      <p:sp>
        <p:nvSpPr>
          <p:cNvPr id="3" name="TextBox 2"/>
          <p:cNvSpPr txBox="1"/>
          <p:nvPr/>
        </p:nvSpPr>
        <p:spPr>
          <a:xfrm>
            <a:off x="812800" y="1676400"/>
            <a:ext cx="4572000" cy="2032000"/>
          </a:xfrm>
          <a:prstGeom prst="rect">
            <a:avLst/>
          </a:prstGeom>
          <a:noFill/>
        </p:spPr>
        <p:txBody>
          <a:bodyPr wrap="square" lIns="0" rIns="0" tIns="0" bIns="0" anchor="t">
            <a:spAutoFit/>
          </a:bodyPr>
          <a:lstStyle/>
          <a:p>
            <a:pPr algn="l">
              <a:lnSpc>
                <a:spcPct val="95000"/>
              </a:lnSpc>
            </a:pPr>
            <a:r>
              <a:rPr sz="4800" b="1">
                <a:solidFill>
                  <a:srgbClr val="10243A"/>
                </a:solidFill>
                <a:latin typeface="Arial Narrow"/>
              </a:rPr>
              <a:t>UNA PISTA, MUCHOS DEPORTES</a:t>
            </a:r>
          </a:p>
        </p:txBody>
      </p:sp>
      <p:sp>
        <p:nvSpPr>
          <p:cNvPr id="4" name="Rounded Rectangle 3"/>
          <p:cNvSpPr/>
          <p:nvPr/>
        </p:nvSpPr>
        <p:spPr>
          <a:xfrm>
            <a:off x="812800" y="3873500"/>
            <a:ext cx="1397000" cy="368300"/>
          </a:xfrm>
          <a:prstGeom prst="roundRect">
            <a:avLst>
              <a:gd name="adj" fmla="val 50000"/>
            </a:avLst>
          </a:prstGeom>
          <a:noFill/>
          <a:ln w="19050">
            <a:solidFill>
              <a:srgbClr val="E879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3873500"/>
            <a:ext cx="1397000" cy="368300"/>
          </a:xfrm>
          <a:prstGeom prst="rect">
            <a:avLst/>
          </a:prstGeom>
          <a:noFill/>
        </p:spPr>
        <p:txBody>
          <a:bodyPr wrap="square" lIns="0" rIns="0" tIns="0" bIns="0" anchor="ctr">
            <a:spAutoFit/>
          </a:bodyPr>
          <a:lstStyle/>
          <a:p>
            <a:pPr algn="ctr">
              <a:lnSpc>
                <a:spcPct val="100000"/>
              </a:lnSpc>
            </a:pPr>
            <a:r>
              <a:rPr sz="1500" b="1">
                <a:solidFill>
                  <a:srgbClr val="10243A"/>
                </a:solidFill>
                <a:latin typeface="Calibri"/>
              </a:rPr>
              <a:t>Fútbol sala</a:t>
            </a:r>
          </a:p>
        </p:txBody>
      </p:sp>
      <p:sp>
        <p:nvSpPr>
          <p:cNvPr id="6" name="Rounded Rectangle 5"/>
          <p:cNvSpPr/>
          <p:nvPr/>
        </p:nvSpPr>
        <p:spPr>
          <a:xfrm>
            <a:off x="2311400" y="3873500"/>
            <a:ext cx="1397000" cy="368300"/>
          </a:xfrm>
          <a:prstGeom prst="roundRect">
            <a:avLst>
              <a:gd name="adj" fmla="val 50000"/>
            </a:avLst>
          </a:prstGeom>
          <a:noFill/>
          <a:ln w="19050">
            <a:solidFill>
              <a:srgbClr val="E879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11400" y="3873500"/>
            <a:ext cx="1397000" cy="368300"/>
          </a:xfrm>
          <a:prstGeom prst="rect">
            <a:avLst/>
          </a:prstGeom>
          <a:noFill/>
        </p:spPr>
        <p:txBody>
          <a:bodyPr wrap="square" lIns="0" rIns="0" tIns="0" bIns="0" anchor="ctr">
            <a:spAutoFit/>
          </a:bodyPr>
          <a:lstStyle/>
          <a:p>
            <a:pPr algn="ctr">
              <a:lnSpc>
                <a:spcPct val="100000"/>
              </a:lnSpc>
            </a:pPr>
            <a:r>
              <a:rPr sz="1500" b="1">
                <a:solidFill>
                  <a:srgbClr val="10243A"/>
                </a:solidFill>
                <a:latin typeface="Calibri"/>
              </a:rPr>
              <a:t>Baloncesto</a:t>
            </a:r>
          </a:p>
        </p:txBody>
      </p:sp>
      <p:sp>
        <p:nvSpPr>
          <p:cNvPr id="8" name="Rounded Rectangle 7"/>
          <p:cNvSpPr/>
          <p:nvPr/>
        </p:nvSpPr>
        <p:spPr>
          <a:xfrm>
            <a:off x="3810000" y="3873500"/>
            <a:ext cx="1206500" cy="368300"/>
          </a:xfrm>
          <a:prstGeom prst="roundRect">
            <a:avLst>
              <a:gd name="adj" fmla="val 50000"/>
            </a:avLst>
          </a:prstGeom>
          <a:noFill/>
          <a:ln w="19050">
            <a:solidFill>
              <a:srgbClr val="E879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10000" y="3873500"/>
            <a:ext cx="1206500" cy="368300"/>
          </a:xfrm>
          <a:prstGeom prst="rect">
            <a:avLst/>
          </a:prstGeom>
          <a:noFill/>
        </p:spPr>
        <p:txBody>
          <a:bodyPr wrap="square" lIns="0" rIns="0" tIns="0" bIns="0" anchor="ctr">
            <a:spAutoFit/>
          </a:bodyPr>
          <a:lstStyle/>
          <a:p>
            <a:pPr algn="ctr">
              <a:lnSpc>
                <a:spcPct val="100000"/>
              </a:lnSpc>
            </a:pPr>
            <a:r>
              <a:rPr sz="1500" b="1">
                <a:solidFill>
                  <a:srgbClr val="10243A"/>
                </a:solidFill>
                <a:latin typeface="Calibri"/>
              </a:rPr>
              <a:t>Voleibol</a:t>
            </a:r>
          </a:p>
        </p:txBody>
      </p:sp>
      <p:sp>
        <p:nvSpPr>
          <p:cNvPr id="10" name="Rounded Rectangle 9"/>
          <p:cNvSpPr/>
          <p:nvPr/>
        </p:nvSpPr>
        <p:spPr>
          <a:xfrm>
            <a:off x="812800" y="4343400"/>
            <a:ext cx="889000" cy="368300"/>
          </a:xfrm>
          <a:prstGeom prst="roundRect">
            <a:avLst>
              <a:gd name="adj" fmla="val 50000"/>
            </a:avLst>
          </a:prstGeom>
          <a:noFill/>
          <a:ln w="19050">
            <a:solidFill>
              <a:srgbClr val="E879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4343400"/>
            <a:ext cx="889000" cy="368300"/>
          </a:xfrm>
          <a:prstGeom prst="rect">
            <a:avLst/>
          </a:prstGeom>
          <a:noFill/>
        </p:spPr>
        <p:txBody>
          <a:bodyPr wrap="square" lIns="0" rIns="0" tIns="0" bIns="0" anchor="ctr">
            <a:spAutoFit/>
          </a:bodyPr>
          <a:lstStyle/>
          <a:p>
            <a:pPr algn="ctr">
              <a:lnSpc>
                <a:spcPct val="100000"/>
              </a:lnSpc>
            </a:pPr>
            <a:r>
              <a:rPr sz="1500" b="1">
                <a:solidFill>
                  <a:srgbClr val="10243A"/>
                </a:solidFill>
                <a:latin typeface="Calibri"/>
              </a:rPr>
              <a:t>Tenis</a:t>
            </a:r>
          </a:p>
        </p:txBody>
      </p:sp>
      <p:sp>
        <p:nvSpPr>
          <p:cNvPr id="12" name="TextBox 11"/>
          <p:cNvSpPr txBox="1"/>
          <p:nvPr/>
        </p:nvSpPr>
        <p:spPr>
          <a:xfrm>
            <a:off x="812800" y="4953000"/>
            <a:ext cx="4572000" cy="1270000"/>
          </a:xfrm>
          <a:prstGeom prst="rect">
            <a:avLst/>
          </a:prstGeom>
          <a:noFill/>
        </p:spPr>
        <p:txBody>
          <a:bodyPr wrap="square" lIns="0" rIns="0" tIns="0" bIns="0" anchor="t">
            <a:spAutoFit/>
          </a:bodyPr>
          <a:lstStyle/>
          <a:p>
            <a:pPr algn="l">
              <a:lnSpc>
                <a:spcPct val="105000"/>
              </a:lnSpc>
            </a:pPr>
            <a:r>
              <a:rPr sz="1700" b="0">
                <a:solidFill>
                  <a:srgbClr val="3E4C5E"/>
                </a:solidFill>
                <a:latin typeface="Calibri"/>
              </a:rPr>
              <a:t>Cortinas motorizadas separan las pistas entre sí y del atletismo: varios grupos entrenan a la vez, sin molestarse.</a:t>
            </a:r>
          </a:p>
        </p:txBody>
      </p:sp>
      <p:pic>
        <p:nvPicPr>
          <p:cNvPr id="13" name="Picture 12" descr="r_cancha.jpg"/>
          <p:cNvPicPr>
            <a:picLocks noChangeAspect="1"/>
          </p:cNvPicPr>
          <p:nvPr/>
        </p:nvPicPr>
        <p:blipFill>
          <a:blip r:embed="rId3"/>
          <a:srcRect l="15286" r="15286"/>
          <a:stretch>
            <a:fillRect/>
          </a:stretch>
        </p:blipFill>
        <p:spPr>
          <a:xfrm>
            <a:off x="5842000" y="1206500"/>
            <a:ext cx="5715000" cy="4445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43A"/>
        </a:solidFill>
        <a:effectLst/>
      </p:bgPr>
    </p:bg>
    <p:spTree>
      <p:nvGrpSpPr>
        <p:cNvPr id="1" name=""/>
        <p:cNvGrpSpPr/>
        <p:nvPr/>
      </p:nvGrpSpPr>
      <p:grpSpPr/>
      <p:pic>
        <p:nvPicPr>
          <p:cNvPr id="2" name="Picture 1" descr="r_ext.jpg"/>
          <p:cNvPicPr>
            <a:picLocks noChangeAspect="1"/>
          </p:cNvPicPr>
          <p:nvPr/>
        </p:nvPicPr>
        <p:blipFill>
          <a:blip r:embed="rId3"/>
          <a:srcRect l="17750" r="17750"/>
          <a:stretch>
            <a:fillRect/>
          </a:stretch>
        </p:blipFill>
        <p:spPr>
          <a:xfrm>
            <a:off x="812800" y="1143000"/>
            <a:ext cx="5461000" cy="4572000"/>
          </a:xfrm>
          <a:prstGeom prst="rect">
            <a:avLst/>
          </a:prstGeom>
        </p:spPr>
      </p:pic>
      <p:sp>
        <p:nvSpPr>
          <p:cNvPr id="3" name="TextBox 2"/>
          <p:cNvSpPr txBox="1"/>
          <p:nvPr/>
        </p:nvSpPr>
        <p:spPr>
          <a:xfrm>
            <a:off x="6731000" y="952500"/>
            <a:ext cx="4648200" cy="1841500"/>
          </a:xfrm>
          <a:prstGeom prst="rect">
            <a:avLst/>
          </a:prstGeom>
          <a:noFill/>
        </p:spPr>
        <p:txBody>
          <a:bodyPr wrap="square" lIns="0" rIns="0" tIns="0" bIns="0" anchor="t">
            <a:spAutoFit/>
          </a:bodyPr>
          <a:lstStyle/>
          <a:p>
            <a:pPr algn="l">
              <a:lnSpc>
                <a:spcPct val="95000"/>
              </a:lnSpc>
            </a:pPr>
            <a:r>
              <a:rPr sz="4200" b="1">
                <a:solidFill>
                  <a:srgbClr val="F7F5F0"/>
                </a:solidFill>
                <a:latin typeface="Arial Narrow"/>
              </a:rPr>
              <a:t>UNA NAVE PROTEGIDA Y CONFORTABLE</a:t>
            </a:r>
          </a:p>
        </p:txBody>
      </p:sp>
      <p:sp>
        <p:nvSpPr>
          <p:cNvPr id="4" name="Oval 3"/>
          <p:cNvSpPr/>
          <p:nvPr/>
        </p:nvSpPr>
        <p:spPr>
          <a:xfrm>
            <a:off x="6731000" y="3009900"/>
            <a:ext cx="355600" cy="3556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31000" y="3009900"/>
            <a:ext cx="355600" cy="355600"/>
          </a:xfrm>
          <a:prstGeom prst="rect">
            <a:avLst/>
          </a:prstGeom>
          <a:noFill/>
        </p:spPr>
        <p:txBody>
          <a:bodyPr wrap="square" lIns="0" rIns="0" tIns="0" bIns="0" anchor="ctr">
            <a:spAutoFit/>
          </a:bodyPr>
          <a:lstStyle/>
          <a:p>
            <a:pPr algn="ctr">
              <a:lnSpc>
                <a:spcPct val="100000"/>
              </a:lnSpc>
            </a:pPr>
            <a:r>
              <a:rPr sz="1500" b="1">
                <a:solidFill>
                  <a:srgbClr val="10243A"/>
                </a:solidFill>
                <a:latin typeface="Segoe UI Symbol"/>
              </a:rPr>
              <a:t>✓</a:t>
            </a:r>
          </a:p>
        </p:txBody>
      </p:sp>
      <p:sp>
        <p:nvSpPr>
          <p:cNvPr id="6" name="TextBox 5"/>
          <p:cNvSpPr txBox="1"/>
          <p:nvPr/>
        </p:nvSpPr>
        <p:spPr>
          <a:xfrm>
            <a:off x="7239000" y="2984500"/>
            <a:ext cx="4140200" cy="635000"/>
          </a:xfrm>
          <a:prstGeom prst="rect">
            <a:avLst/>
          </a:prstGeom>
          <a:noFill/>
        </p:spPr>
        <p:txBody>
          <a:bodyPr wrap="square" lIns="0" rIns="0" tIns="0" bIns="0" anchor="t">
            <a:spAutoFit/>
          </a:bodyPr>
          <a:lstStyle/>
          <a:p>
            <a:pPr algn="l">
              <a:lnSpc>
                <a:spcPct val="105000"/>
              </a:lnSpc>
            </a:pPr>
            <a:r>
              <a:rPr sz="1600" b="1">
                <a:solidFill>
                  <a:srgbClr val="F7F5F0"/>
                </a:solidFill>
                <a:latin typeface="Calibri"/>
              </a:rPr>
              <a:t>Cubierta renovada.</a:t>
            </a:r>
            <a:r>
              <a:rPr sz="1600" b="0">
                <a:solidFill>
                  <a:srgbClr val="F7F5F0"/>
                </a:solidFill>
                <a:latin typeface="Calibri"/>
              </a:rPr>
              <a:t> Más aislamiento y menos frío en invierno.</a:t>
            </a:r>
          </a:p>
        </p:txBody>
      </p:sp>
      <p:sp>
        <p:nvSpPr>
          <p:cNvPr id="7" name="Oval 6"/>
          <p:cNvSpPr/>
          <p:nvPr/>
        </p:nvSpPr>
        <p:spPr>
          <a:xfrm>
            <a:off x="6731000" y="3683000"/>
            <a:ext cx="355600" cy="3556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1000" y="3683000"/>
            <a:ext cx="355600" cy="355600"/>
          </a:xfrm>
          <a:prstGeom prst="rect">
            <a:avLst/>
          </a:prstGeom>
          <a:noFill/>
        </p:spPr>
        <p:txBody>
          <a:bodyPr wrap="square" lIns="0" rIns="0" tIns="0" bIns="0" anchor="ctr">
            <a:spAutoFit/>
          </a:bodyPr>
          <a:lstStyle/>
          <a:p>
            <a:pPr algn="ctr">
              <a:lnSpc>
                <a:spcPct val="100000"/>
              </a:lnSpc>
            </a:pPr>
            <a:r>
              <a:rPr sz="1500" b="1">
                <a:solidFill>
                  <a:srgbClr val="10243A"/>
                </a:solidFill>
                <a:latin typeface="Segoe UI Symbol"/>
              </a:rPr>
              <a:t>✓</a:t>
            </a:r>
          </a:p>
        </p:txBody>
      </p:sp>
      <p:sp>
        <p:nvSpPr>
          <p:cNvPr id="9" name="TextBox 8"/>
          <p:cNvSpPr txBox="1"/>
          <p:nvPr/>
        </p:nvSpPr>
        <p:spPr>
          <a:xfrm>
            <a:off x="7239000" y="3657600"/>
            <a:ext cx="4140200" cy="635000"/>
          </a:xfrm>
          <a:prstGeom prst="rect">
            <a:avLst/>
          </a:prstGeom>
          <a:noFill/>
        </p:spPr>
        <p:txBody>
          <a:bodyPr wrap="square" lIns="0" rIns="0" tIns="0" bIns="0" anchor="t">
            <a:spAutoFit/>
          </a:bodyPr>
          <a:lstStyle/>
          <a:p>
            <a:pPr algn="l">
              <a:lnSpc>
                <a:spcPct val="105000"/>
              </a:lnSpc>
            </a:pPr>
            <a:r>
              <a:rPr sz="1600" b="1">
                <a:solidFill>
                  <a:srgbClr val="F7F5F0"/>
                </a:solidFill>
                <a:latin typeface="Calibri"/>
              </a:rPr>
              <a:t>Luz natural.</a:t>
            </a:r>
            <a:r>
              <a:rPr sz="1600" b="0">
                <a:solidFill>
                  <a:srgbClr val="F7F5F0"/>
                </a:solidFill>
                <a:latin typeface="Calibri"/>
              </a:rPr>
              <a:t> Cerramiento translúcido y control del sol en la fachada oeste.</a:t>
            </a:r>
          </a:p>
        </p:txBody>
      </p:sp>
      <p:sp>
        <p:nvSpPr>
          <p:cNvPr id="10" name="Oval 9"/>
          <p:cNvSpPr/>
          <p:nvPr/>
        </p:nvSpPr>
        <p:spPr>
          <a:xfrm>
            <a:off x="6731000" y="4356100"/>
            <a:ext cx="355600" cy="3556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0" y="4356100"/>
            <a:ext cx="355600" cy="355600"/>
          </a:xfrm>
          <a:prstGeom prst="rect">
            <a:avLst/>
          </a:prstGeom>
          <a:noFill/>
        </p:spPr>
        <p:txBody>
          <a:bodyPr wrap="square" lIns="0" rIns="0" tIns="0" bIns="0" anchor="ctr">
            <a:spAutoFit/>
          </a:bodyPr>
          <a:lstStyle/>
          <a:p>
            <a:pPr algn="ctr">
              <a:lnSpc>
                <a:spcPct val="100000"/>
              </a:lnSpc>
            </a:pPr>
            <a:r>
              <a:rPr sz="1500" b="1">
                <a:solidFill>
                  <a:srgbClr val="10243A"/>
                </a:solidFill>
                <a:latin typeface="Segoe UI Symbol"/>
              </a:rPr>
              <a:t>✓</a:t>
            </a:r>
          </a:p>
        </p:txBody>
      </p:sp>
      <p:sp>
        <p:nvSpPr>
          <p:cNvPr id="12" name="TextBox 11"/>
          <p:cNvSpPr txBox="1"/>
          <p:nvPr/>
        </p:nvSpPr>
        <p:spPr>
          <a:xfrm>
            <a:off x="7239000" y="4330700"/>
            <a:ext cx="4140200" cy="635000"/>
          </a:xfrm>
          <a:prstGeom prst="rect">
            <a:avLst/>
          </a:prstGeom>
          <a:noFill/>
        </p:spPr>
        <p:txBody>
          <a:bodyPr wrap="square" lIns="0" rIns="0" tIns="0" bIns="0" anchor="t">
            <a:spAutoFit/>
          </a:bodyPr>
          <a:lstStyle/>
          <a:p>
            <a:pPr algn="l">
              <a:lnSpc>
                <a:spcPct val="105000"/>
              </a:lnSpc>
            </a:pPr>
            <a:r>
              <a:rPr sz="1600" b="1">
                <a:solidFill>
                  <a:srgbClr val="F7F5F0"/>
                </a:solidFill>
                <a:latin typeface="Calibri"/>
              </a:rPr>
              <a:t>Espacio protegido.</a:t>
            </a:r>
            <a:r>
              <a:rPr sz="1600" b="0">
                <a:solidFill>
                  <a:srgbClr val="F7F5F0"/>
                </a:solidFill>
                <a:latin typeface="Calibri"/>
              </a:rPr>
              <a:t> Sin aves, sin lluvia y sin suciedad sobre la pista.</a:t>
            </a:r>
          </a:p>
        </p:txBody>
      </p:sp>
      <p:sp>
        <p:nvSpPr>
          <p:cNvPr id="13" name="Oval 12"/>
          <p:cNvSpPr/>
          <p:nvPr/>
        </p:nvSpPr>
        <p:spPr>
          <a:xfrm>
            <a:off x="6731000" y="5029200"/>
            <a:ext cx="355600" cy="3556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1000" y="5029200"/>
            <a:ext cx="355600" cy="355600"/>
          </a:xfrm>
          <a:prstGeom prst="rect">
            <a:avLst/>
          </a:prstGeom>
          <a:noFill/>
        </p:spPr>
        <p:txBody>
          <a:bodyPr wrap="square" lIns="0" rIns="0" tIns="0" bIns="0" anchor="ctr">
            <a:spAutoFit/>
          </a:bodyPr>
          <a:lstStyle/>
          <a:p>
            <a:pPr algn="ctr">
              <a:lnSpc>
                <a:spcPct val="100000"/>
              </a:lnSpc>
            </a:pPr>
            <a:r>
              <a:rPr sz="1500" b="1">
                <a:solidFill>
                  <a:srgbClr val="10243A"/>
                </a:solidFill>
                <a:latin typeface="Segoe UI Symbol"/>
              </a:rPr>
              <a:t>✓</a:t>
            </a:r>
          </a:p>
        </p:txBody>
      </p:sp>
      <p:sp>
        <p:nvSpPr>
          <p:cNvPr id="15" name="TextBox 14"/>
          <p:cNvSpPr txBox="1"/>
          <p:nvPr/>
        </p:nvSpPr>
        <p:spPr>
          <a:xfrm>
            <a:off x="7239000" y="5003800"/>
            <a:ext cx="4140200" cy="635000"/>
          </a:xfrm>
          <a:prstGeom prst="rect">
            <a:avLst/>
          </a:prstGeom>
          <a:noFill/>
        </p:spPr>
        <p:txBody>
          <a:bodyPr wrap="square" lIns="0" rIns="0" tIns="0" bIns="0" anchor="t">
            <a:spAutoFit/>
          </a:bodyPr>
          <a:lstStyle/>
          <a:p>
            <a:pPr algn="l">
              <a:lnSpc>
                <a:spcPct val="105000"/>
              </a:lnSpc>
            </a:pPr>
            <a:r>
              <a:rPr sz="1600" b="1">
                <a:solidFill>
                  <a:srgbClr val="F7F5F0"/>
                </a:solidFill>
                <a:latin typeface="Calibri"/>
              </a:rPr>
              <a:t>Entorno accesible.</a:t>
            </a:r>
            <a:r>
              <a:rPr sz="1600" b="0">
                <a:solidFill>
                  <a:srgbClr val="F7F5F0"/>
                </a:solidFill>
                <a:latin typeface="Calibri"/>
              </a:rPr>
              <a:t> Mejor recogida de agua y acceso peatonal desde el exterior.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812800" y="812800"/>
            <a:ext cx="6350000" cy="228600"/>
          </a:xfrm>
          <a:prstGeom prst="rect">
            <a:avLst/>
          </a:prstGeom>
          <a:noFill/>
        </p:spPr>
        <p:txBody>
          <a:bodyPr wrap="square" lIns="0" rIns="0" tIns="0" bIns="0" anchor="t">
            <a:spAutoFit/>
          </a:bodyPr>
          <a:lstStyle/>
          <a:p>
            <a:pPr algn="l">
              <a:lnSpc>
                <a:spcPct val="100000"/>
              </a:lnSpc>
            </a:pPr>
            <a:r>
              <a:rPr sz="1400" b="1" spc="200">
                <a:solidFill>
                  <a:srgbClr val="B95A0C"/>
                </a:solidFill>
                <a:latin typeface="Calibri"/>
              </a:rPr>
              <a:t>QUÉ GANA CIUDAD REAL</a:t>
            </a:r>
          </a:p>
        </p:txBody>
      </p:sp>
      <p:sp>
        <p:nvSpPr>
          <p:cNvPr id="3" name="TextBox 2"/>
          <p:cNvSpPr txBox="1"/>
          <p:nvPr/>
        </p:nvSpPr>
        <p:spPr>
          <a:xfrm>
            <a:off x="812800" y="1117600"/>
            <a:ext cx="10566400" cy="762000"/>
          </a:xfrm>
          <a:prstGeom prst="rect">
            <a:avLst/>
          </a:prstGeom>
          <a:noFill/>
        </p:spPr>
        <p:txBody>
          <a:bodyPr wrap="square" lIns="0" rIns="0" tIns="0" bIns="0" anchor="t">
            <a:spAutoFit/>
          </a:bodyPr>
          <a:lstStyle/>
          <a:p>
            <a:pPr algn="l">
              <a:lnSpc>
                <a:spcPct val="100000"/>
              </a:lnSpc>
            </a:pPr>
            <a:r>
              <a:rPr sz="4800" b="1">
                <a:solidFill>
                  <a:srgbClr val="10243A"/>
                </a:solidFill>
                <a:latin typeface="Arial Narrow"/>
              </a:rPr>
              <a:t>UN ESPACIO PARA TODOS</a:t>
            </a:r>
          </a:p>
        </p:txBody>
      </p:sp>
      <p:sp>
        <p:nvSpPr>
          <p:cNvPr id="4" name="Rounded Rectangle 3"/>
          <p:cNvSpPr/>
          <p:nvPr/>
        </p:nvSpPr>
        <p:spPr>
          <a:xfrm>
            <a:off x="812800" y="2603500"/>
            <a:ext cx="5181600" cy="1651000"/>
          </a:xfrm>
          <a:prstGeom prst="roundRect">
            <a:avLst>
              <a:gd name="adj" fmla="val 76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730500"/>
            <a:ext cx="63500" cy="1397000"/>
          </a:xfrm>
          <a:prstGeom prst="rect">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92200" y="2882900"/>
            <a:ext cx="457200" cy="4572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2200" y="2882900"/>
            <a:ext cx="457200" cy="457200"/>
          </a:xfrm>
          <a:prstGeom prst="rect">
            <a:avLst/>
          </a:prstGeom>
          <a:noFill/>
        </p:spPr>
        <p:txBody>
          <a:bodyPr wrap="square" lIns="0" rIns="0" tIns="0" bIns="0" anchor="ctr">
            <a:spAutoFit/>
          </a:bodyPr>
          <a:lstStyle/>
          <a:p>
            <a:pPr algn="ctr">
              <a:lnSpc>
                <a:spcPct val="100000"/>
              </a:lnSpc>
            </a:pPr>
            <a:r>
              <a:rPr sz="2000" b="1">
                <a:solidFill>
                  <a:srgbClr val="FFFFFF"/>
                </a:solidFill>
                <a:latin typeface="Arial Narrow"/>
              </a:rPr>
              <a:t>1</a:t>
            </a:r>
          </a:p>
        </p:txBody>
      </p:sp>
      <p:sp>
        <p:nvSpPr>
          <p:cNvPr id="8" name="TextBox 7"/>
          <p:cNvSpPr txBox="1"/>
          <p:nvPr/>
        </p:nvSpPr>
        <p:spPr>
          <a:xfrm>
            <a:off x="1727200" y="2857500"/>
            <a:ext cx="4064000" cy="381000"/>
          </a:xfrm>
          <a:prstGeom prst="rect">
            <a:avLst/>
          </a:prstGeom>
          <a:noFill/>
        </p:spPr>
        <p:txBody>
          <a:bodyPr wrap="square" lIns="0" rIns="0" tIns="0" bIns="0" anchor="t">
            <a:spAutoFit/>
          </a:bodyPr>
          <a:lstStyle/>
          <a:p>
            <a:pPr algn="l">
              <a:lnSpc>
                <a:spcPct val="100000"/>
              </a:lnSpc>
            </a:pPr>
            <a:r>
              <a:rPr sz="2300" b="1">
                <a:solidFill>
                  <a:srgbClr val="10243A"/>
                </a:solidFill>
                <a:latin typeface="Arial Narrow"/>
              </a:rPr>
              <a:t>CLUBES Y ESCUELAS</a:t>
            </a:r>
          </a:p>
        </p:txBody>
      </p:sp>
      <p:sp>
        <p:nvSpPr>
          <p:cNvPr id="9" name="TextBox 8"/>
          <p:cNvSpPr txBox="1"/>
          <p:nvPr/>
        </p:nvSpPr>
        <p:spPr>
          <a:xfrm>
            <a:off x="1727200" y="3289300"/>
            <a:ext cx="4064000" cy="825500"/>
          </a:xfrm>
          <a:prstGeom prst="rect">
            <a:avLst/>
          </a:prstGeom>
          <a:noFill/>
        </p:spPr>
        <p:txBody>
          <a:bodyPr wrap="square" lIns="0" rIns="0" tIns="0" bIns="0" anchor="t">
            <a:spAutoFit/>
          </a:bodyPr>
          <a:lstStyle/>
          <a:p>
            <a:pPr algn="l">
              <a:lnSpc>
                <a:spcPct val="105000"/>
              </a:lnSpc>
            </a:pPr>
            <a:r>
              <a:rPr sz="1500" b="0">
                <a:solidFill>
                  <a:srgbClr val="3E4C5E"/>
                </a:solidFill>
                <a:latin typeface="Calibri"/>
              </a:rPr>
              <a:t>Un espacio cubierto y versátil para entrenar con cualquier clima.</a:t>
            </a:r>
          </a:p>
        </p:txBody>
      </p:sp>
      <p:sp>
        <p:nvSpPr>
          <p:cNvPr id="10" name="Rounded Rectangle 9"/>
          <p:cNvSpPr/>
          <p:nvPr/>
        </p:nvSpPr>
        <p:spPr>
          <a:xfrm>
            <a:off x="6197600" y="2603500"/>
            <a:ext cx="5181600" cy="1651000"/>
          </a:xfrm>
          <a:prstGeom prst="roundRect">
            <a:avLst>
              <a:gd name="adj" fmla="val 76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7600" y="2730500"/>
            <a:ext cx="63500" cy="1397000"/>
          </a:xfrm>
          <a:prstGeom prst="rect">
            <a:avLst/>
          </a:prstGeom>
          <a:solidFill>
            <a:srgbClr val="0E9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77000" y="2882900"/>
            <a:ext cx="457200" cy="457200"/>
          </a:xfrm>
          <a:prstGeom prst="ellipse">
            <a:avLst/>
          </a:prstGeom>
          <a:solidFill>
            <a:srgbClr val="0E9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0" y="2882900"/>
            <a:ext cx="457200" cy="457200"/>
          </a:xfrm>
          <a:prstGeom prst="rect">
            <a:avLst/>
          </a:prstGeom>
          <a:noFill/>
        </p:spPr>
        <p:txBody>
          <a:bodyPr wrap="square" lIns="0" rIns="0" tIns="0" bIns="0" anchor="ctr">
            <a:spAutoFit/>
          </a:bodyPr>
          <a:lstStyle/>
          <a:p>
            <a:pPr algn="ctr">
              <a:lnSpc>
                <a:spcPct val="100000"/>
              </a:lnSpc>
            </a:pPr>
            <a:r>
              <a:rPr sz="2000" b="1">
                <a:solidFill>
                  <a:srgbClr val="FFFFFF"/>
                </a:solidFill>
                <a:latin typeface="Arial Narrow"/>
              </a:rPr>
              <a:t>2</a:t>
            </a:r>
          </a:p>
        </p:txBody>
      </p:sp>
      <p:sp>
        <p:nvSpPr>
          <p:cNvPr id="14" name="TextBox 13"/>
          <p:cNvSpPr txBox="1"/>
          <p:nvPr/>
        </p:nvSpPr>
        <p:spPr>
          <a:xfrm>
            <a:off x="7112000" y="2857500"/>
            <a:ext cx="4064000" cy="381000"/>
          </a:xfrm>
          <a:prstGeom prst="rect">
            <a:avLst/>
          </a:prstGeom>
          <a:noFill/>
        </p:spPr>
        <p:txBody>
          <a:bodyPr wrap="square" lIns="0" rIns="0" tIns="0" bIns="0" anchor="t">
            <a:spAutoFit/>
          </a:bodyPr>
          <a:lstStyle/>
          <a:p>
            <a:pPr algn="l">
              <a:lnSpc>
                <a:spcPct val="100000"/>
              </a:lnSpc>
            </a:pPr>
            <a:r>
              <a:rPr sz="2300" b="1">
                <a:solidFill>
                  <a:srgbClr val="10243A"/>
                </a:solidFill>
                <a:latin typeface="Arial Narrow"/>
              </a:rPr>
              <a:t>ATLETAS EN TECNIFICACIÓN</a:t>
            </a:r>
          </a:p>
        </p:txBody>
      </p:sp>
      <p:sp>
        <p:nvSpPr>
          <p:cNvPr id="15" name="TextBox 14"/>
          <p:cNvSpPr txBox="1"/>
          <p:nvPr/>
        </p:nvSpPr>
        <p:spPr>
          <a:xfrm>
            <a:off x="7112000" y="3289300"/>
            <a:ext cx="4064000" cy="825500"/>
          </a:xfrm>
          <a:prstGeom prst="rect">
            <a:avLst/>
          </a:prstGeom>
          <a:noFill/>
        </p:spPr>
        <p:txBody>
          <a:bodyPr wrap="square" lIns="0" rIns="0" tIns="0" bIns="0" anchor="t">
            <a:spAutoFit/>
          </a:bodyPr>
          <a:lstStyle/>
          <a:p>
            <a:pPr algn="l">
              <a:lnSpc>
                <a:spcPct val="105000"/>
              </a:lnSpc>
            </a:pPr>
            <a:r>
              <a:rPr sz="1500" b="0">
                <a:solidFill>
                  <a:srgbClr val="3E4C5E"/>
                </a:solidFill>
                <a:latin typeface="Calibri"/>
              </a:rPr>
              <a:t>Calles y zonas de salto para trabajar la técnica durante todo el año.</a:t>
            </a:r>
          </a:p>
        </p:txBody>
      </p:sp>
      <p:sp>
        <p:nvSpPr>
          <p:cNvPr id="16" name="Rounded Rectangle 15"/>
          <p:cNvSpPr/>
          <p:nvPr/>
        </p:nvSpPr>
        <p:spPr>
          <a:xfrm>
            <a:off x="812800" y="4457700"/>
            <a:ext cx="5181600" cy="1651000"/>
          </a:xfrm>
          <a:prstGeom prst="roundRect">
            <a:avLst>
              <a:gd name="adj" fmla="val 76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800" y="4584700"/>
            <a:ext cx="63500" cy="1397000"/>
          </a:xfrm>
          <a:prstGeom prst="rect">
            <a:avLst/>
          </a:prstGeom>
          <a:solidFill>
            <a:srgbClr val="0E9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92200" y="4737100"/>
            <a:ext cx="457200" cy="457200"/>
          </a:xfrm>
          <a:prstGeom prst="ellipse">
            <a:avLst/>
          </a:prstGeom>
          <a:solidFill>
            <a:srgbClr val="0E9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2200" y="4737100"/>
            <a:ext cx="457200" cy="457200"/>
          </a:xfrm>
          <a:prstGeom prst="rect">
            <a:avLst/>
          </a:prstGeom>
          <a:noFill/>
        </p:spPr>
        <p:txBody>
          <a:bodyPr wrap="square" lIns="0" rIns="0" tIns="0" bIns="0" anchor="ctr">
            <a:spAutoFit/>
          </a:bodyPr>
          <a:lstStyle/>
          <a:p>
            <a:pPr algn="ctr">
              <a:lnSpc>
                <a:spcPct val="100000"/>
              </a:lnSpc>
            </a:pPr>
            <a:r>
              <a:rPr sz="2000" b="1">
                <a:solidFill>
                  <a:srgbClr val="FFFFFF"/>
                </a:solidFill>
                <a:latin typeface="Arial Narrow"/>
              </a:rPr>
              <a:t>3</a:t>
            </a:r>
          </a:p>
        </p:txBody>
      </p:sp>
      <p:sp>
        <p:nvSpPr>
          <p:cNvPr id="20" name="TextBox 19"/>
          <p:cNvSpPr txBox="1"/>
          <p:nvPr/>
        </p:nvSpPr>
        <p:spPr>
          <a:xfrm>
            <a:off x="1727200" y="4711700"/>
            <a:ext cx="4064000" cy="381000"/>
          </a:xfrm>
          <a:prstGeom prst="rect">
            <a:avLst/>
          </a:prstGeom>
          <a:noFill/>
        </p:spPr>
        <p:txBody>
          <a:bodyPr wrap="square" lIns="0" rIns="0" tIns="0" bIns="0" anchor="t">
            <a:spAutoFit/>
          </a:bodyPr>
          <a:lstStyle/>
          <a:p>
            <a:pPr algn="l">
              <a:lnSpc>
                <a:spcPct val="100000"/>
              </a:lnSpc>
            </a:pPr>
            <a:r>
              <a:rPr sz="2300" b="1">
                <a:solidFill>
                  <a:srgbClr val="10243A"/>
                </a:solidFill>
                <a:latin typeface="Arial Narrow"/>
              </a:rPr>
              <a:t>COMPETICIONES Y EVENTOS</a:t>
            </a:r>
          </a:p>
        </p:txBody>
      </p:sp>
      <p:sp>
        <p:nvSpPr>
          <p:cNvPr id="21" name="TextBox 20"/>
          <p:cNvSpPr txBox="1"/>
          <p:nvPr/>
        </p:nvSpPr>
        <p:spPr>
          <a:xfrm>
            <a:off x="1727200" y="5143500"/>
            <a:ext cx="4064000" cy="825500"/>
          </a:xfrm>
          <a:prstGeom prst="rect">
            <a:avLst/>
          </a:prstGeom>
          <a:noFill/>
        </p:spPr>
        <p:txBody>
          <a:bodyPr wrap="square" lIns="0" rIns="0" tIns="0" bIns="0" anchor="t">
            <a:spAutoFit/>
          </a:bodyPr>
          <a:lstStyle/>
          <a:p>
            <a:pPr algn="l">
              <a:lnSpc>
                <a:spcPct val="105000"/>
              </a:lnSpc>
            </a:pPr>
            <a:r>
              <a:rPr sz="1500" b="0">
                <a:solidFill>
                  <a:srgbClr val="3E4C5E"/>
                </a:solidFill>
                <a:latin typeface="Calibri"/>
              </a:rPr>
              <a:t>Módulo de atletismo homologado por la RFEA.</a:t>
            </a:r>
          </a:p>
        </p:txBody>
      </p:sp>
      <p:sp>
        <p:nvSpPr>
          <p:cNvPr id="22" name="Rounded Rectangle 21"/>
          <p:cNvSpPr/>
          <p:nvPr/>
        </p:nvSpPr>
        <p:spPr>
          <a:xfrm>
            <a:off x="6197600" y="4457700"/>
            <a:ext cx="5181600" cy="1651000"/>
          </a:xfrm>
          <a:prstGeom prst="roundRect">
            <a:avLst>
              <a:gd name="adj" fmla="val 76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7600" y="4584700"/>
            <a:ext cx="63500" cy="1397000"/>
          </a:xfrm>
          <a:prstGeom prst="rect">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7000" y="4737100"/>
            <a:ext cx="457200" cy="457200"/>
          </a:xfrm>
          <a:prstGeom prst="ellipse">
            <a:avLst/>
          </a:prstGeom>
          <a:solidFill>
            <a:srgbClr val="E87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7000" y="4737100"/>
            <a:ext cx="457200" cy="457200"/>
          </a:xfrm>
          <a:prstGeom prst="rect">
            <a:avLst/>
          </a:prstGeom>
          <a:noFill/>
        </p:spPr>
        <p:txBody>
          <a:bodyPr wrap="square" lIns="0" rIns="0" tIns="0" bIns="0" anchor="ctr">
            <a:spAutoFit/>
          </a:bodyPr>
          <a:lstStyle/>
          <a:p>
            <a:pPr algn="ctr">
              <a:lnSpc>
                <a:spcPct val="100000"/>
              </a:lnSpc>
            </a:pPr>
            <a:r>
              <a:rPr sz="2000" b="1">
                <a:solidFill>
                  <a:srgbClr val="FFFFFF"/>
                </a:solidFill>
                <a:latin typeface="Arial Narrow"/>
              </a:rPr>
              <a:t>4</a:t>
            </a:r>
          </a:p>
        </p:txBody>
      </p:sp>
      <p:sp>
        <p:nvSpPr>
          <p:cNvPr id="26" name="TextBox 25"/>
          <p:cNvSpPr txBox="1"/>
          <p:nvPr/>
        </p:nvSpPr>
        <p:spPr>
          <a:xfrm>
            <a:off x="7112000" y="4711700"/>
            <a:ext cx="4064000" cy="381000"/>
          </a:xfrm>
          <a:prstGeom prst="rect">
            <a:avLst/>
          </a:prstGeom>
          <a:noFill/>
        </p:spPr>
        <p:txBody>
          <a:bodyPr wrap="square" lIns="0" rIns="0" tIns="0" bIns="0" anchor="t">
            <a:spAutoFit/>
          </a:bodyPr>
          <a:lstStyle/>
          <a:p>
            <a:pPr algn="l">
              <a:lnSpc>
                <a:spcPct val="100000"/>
              </a:lnSpc>
            </a:pPr>
            <a:r>
              <a:rPr sz="2300" b="1">
                <a:solidFill>
                  <a:srgbClr val="10243A"/>
                </a:solidFill>
                <a:latin typeface="Arial Narrow"/>
              </a:rPr>
              <a:t>DEPORTE PARA TODOS</a:t>
            </a:r>
          </a:p>
        </p:txBody>
      </p:sp>
      <p:sp>
        <p:nvSpPr>
          <p:cNvPr id="27" name="TextBox 26"/>
          <p:cNvSpPr txBox="1"/>
          <p:nvPr/>
        </p:nvSpPr>
        <p:spPr>
          <a:xfrm>
            <a:off x="7112000" y="5143500"/>
            <a:ext cx="4064000" cy="825500"/>
          </a:xfrm>
          <a:prstGeom prst="rect">
            <a:avLst/>
          </a:prstGeom>
          <a:noFill/>
        </p:spPr>
        <p:txBody>
          <a:bodyPr wrap="square" lIns="0" rIns="0" tIns="0" bIns="0" anchor="t">
            <a:spAutoFit/>
          </a:bodyPr>
          <a:lstStyle/>
          <a:p>
            <a:pPr algn="l">
              <a:lnSpc>
                <a:spcPct val="105000"/>
              </a:lnSpc>
            </a:pPr>
            <a:r>
              <a:rPr sz="1500" b="0">
                <a:solidFill>
                  <a:srgbClr val="3E4C5E"/>
                </a:solidFill>
                <a:latin typeface="Calibri"/>
              </a:rPr>
              <a:t>Dos pistas multideporte abiertas a deportistas de todas las edades.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43A"/>
        </a:solidFill>
        <a:effectLst/>
      </p:bgPr>
    </p:bg>
    <p:spTree>
      <p:nvGrpSpPr>
        <p:cNvPr id="1" name=""/>
        <p:cNvGrpSpPr/>
        <p:nvPr/>
      </p:nvGrpSpPr>
      <p:grpSpPr/>
      <p:pic>
        <p:nvPicPr>
          <p:cNvPr id="2" name="Picture 1" descr="r_int.jpg"/>
          <p:cNvPicPr>
            <a:picLocks noChangeAspect="1"/>
          </p:cNvPicPr>
          <p:nvPr/>
        </p:nvPicPr>
        <p:blipFill>
          <a:blip r:embed="rId3"/>
          <a:srcRect l="2000" r="2000"/>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10243A">
                  <a:alpha val="95000"/>
                </a:srgbClr>
              </a:gs>
              <a:gs pos="50000">
                <a:srgbClr val="10243A">
                  <a:alpha val="80000"/>
                </a:srgbClr>
              </a:gs>
              <a:gs pos="100000">
                <a:srgbClr val="10243A">
                  <a:alpha val="3000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1968500"/>
            <a:ext cx="6350000" cy="228600"/>
          </a:xfrm>
          <a:prstGeom prst="rect">
            <a:avLst/>
          </a:prstGeom>
          <a:noFill/>
        </p:spPr>
        <p:txBody>
          <a:bodyPr wrap="square" lIns="0" rIns="0" tIns="0" bIns="0" anchor="t">
            <a:spAutoFit/>
          </a:bodyPr>
          <a:lstStyle/>
          <a:p>
            <a:pPr algn="l">
              <a:lnSpc>
                <a:spcPct val="100000"/>
              </a:lnSpc>
            </a:pPr>
            <a:r>
              <a:rPr sz="1400" b="1" spc="200">
                <a:solidFill>
                  <a:srgbClr val="F29A4A"/>
                </a:solidFill>
                <a:latin typeface="Calibri"/>
              </a:rPr>
              <a:t>UN MÓDULO PARA CIUDAD REAL</a:t>
            </a:r>
          </a:p>
        </p:txBody>
      </p:sp>
      <p:sp>
        <p:nvSpPr>
          <p:cNvPr id="5" name="TextBox 4"/>
          <p:cNvSpPr txBox="1"/>
          <p:nvPr/>
        </p:nvSpPr>
        <p:spPr>
          <a:xfrm>
            <a:off x="812800" y="2286000"/>
            <a:ext cx="8890000" cy="1524000"/>
          </a:xfrm>
          <a:prstGeom prst="rect">
            <a:avLst/>
          </a:prstGeom>
          <a:noFill/>
        </p:spPr>
        <p:txBody>
          <a:bodyPr wrap="square" lIns="0" rIns="0" tIns="0" bIns="0" anchor="t">
            <a:spAutoFit/>
          </a:bodyPr>
          <a:lstStyle/>
          <a:p>
            <a:pPr algn="l">
              <a:lnSpc>
                <a:spcPct val="95000"/>
              </a:lnSpc>
            </a:pPr>
            <a:r>
              <a:rPr sz="5200" b="1">
                <a:solidFill>
                  <a:srgbClr val="F7F5F0"/>
                </a:solidFill>
                <a:latin typeface="Arial Narrow"/>
              </a:rPr>
              <a:t>ATLETISMO Y DEPORTE BAJO CUBIERTA, TODO EL AÑO</a:t>
            </a:r>
          </a:p>
        </p:txBody>
      </p:sp>
      <p:sp>
        <p:nvSpPr>
          <p:cNvPr id="6" name="TextBox 5"/>
          <p:cNvSpPr txBox="1"/>
          <p:nvPr/>
        </p:nvSpPr>
        <p:spPr>
          <a:xfrm>
            <a:off x="812800" y="3937000"/>
            <a:ext cx="6350000" cy="381000"/>
          </a:xfrm>
          <a:prstGeom prst="rect">
            <a:avLst/>
          </a:prstGeom>
          <a:noFill/>
        </p:spPr>
        <p:txBody>
          <a:bodyPr wrap="square" lIns="0" rIns="0" tIns="0" bIns="0" anchor="t">
            <a:spAutoFit/>
          </a:bodyPr>
          <a:lstStyle/>
          <a:p>
            <a:pPr algn="l">
              <a:lnSpc>
                <a:spcPct val="100000"/>
              </a:lnSpc>
            </a:pPr>
            <a:r>
              <a:rPr sz="2000" b="0">
                <a:solidFill>
                  <a:srgbClr val="E3EAF2"/>
                </a:solidFill>
                <a:latin typeface="Calibri"/>
              </a:rPr>
              <a:t>Un espacio para entrenar, tecnificar y competir.</a:t>
            </a:r>
          </a:p>
        </p:txBody>
      </p:sp>
      <p:sp>
        <p:nvSpPr>
          <p:cNvPr id="7" name="Rounded Rectangle 6"/>
          <p:cNvSpPr/>
          <p:nvPr/>
        </p:nvSpPr>
        <p:spPr>
          <a:xfrm>
            <a:off x="812800" y="5295900"/>
            <a:ext cx="3708400" cy="1054100"/>
          </a:xfrm>
          <a:prstGeom prst="roundRect">
            <a:avLst>
              <a:gd name="adj" fmla="val 9638"/>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_ayto.png"/>
          <p:cNvPicPr>
            <a:picLocks noChangeAspect="1"/>
          </p:cNvPicPr>
          <p:nvPr/>
        </p:nvPicPr>
        <p:blipFill>
          <a:blip r:embed="rId4"/>
          <a:stretch>
            <a:fillRect/>
          </a:stretch>
        </p:blipFill>
        <p:spPr>
          <a:xfrm>
            <a:off x="1016000" y="5424311"/>
            <a:ext cx="1270000" cy="797277"/>
          </a:xfrm>
          <a:prstGeom prst="rect">
            <a:avLst/>
          </a:prstGeom>
        </p:spPr>
      </p:pic>
      <p:pic>
        <p:nvPicPr>
          <p:cNvPr id="9" name="Picture 8" descr="logo_deporte.png"/>
          <p:cNvPicPr>
            <a:picLocks noChangeAspect="1"/>
          </p:cNvPicPr>
          <p:nvPr/>
        </p:nvPicPr>
        <p:blipFill>
          <a:blip r:embed="rId5"/>
          <a:stretch>
            <a:fillRect/>
          </a:stretch>
        </p:blipFill>
        <p:spPr>
          <a:xfrm>
            <a:off x="2540000" y="5621443"/>
            <a:ext cx="1778000" cy="4030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